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572000" cy="45720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200400"/>
            <a:ext cx="4572000" cy="45720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NexaVault Financial Corp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9144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Loan</a:t>
            </a:r>
            <a:endParaRPr lang="en-US" sz="5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 System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02920" y="4069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Machine Learning Pipeline for Fast, Fair &amp; Accurate Decisions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4736592"/>
            <a:ext cx="41148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91947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Mandeep Sharma  ·  March 2026  ·  v5.0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532180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Mandeep Sharma. All rights reserved.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326880" y="1371600"/>
            <a:ext cx="2377440" cy="1005840"/>
          </a:xfrm>
          <a:prstGeom prst="rect">
            <a:avLst/>
          </a:prstGeom>
          <a:solidFill>
            <a:srgbClr val="0D2240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0" y="144475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99.77%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326880" y="19385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326880" y="2560320"/>
            <a:ext cx="2377440" cy="1005840"/>
          </a:xfrm>
          <a:prstGeom prst="rect">
            <a:avLst/>
          </a:prstGeom>
          <a:solidFill>
            <a:srgbClr val="0D2240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0" y="26334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&lt;200ms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26880" y="31272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326880" y="3749040"/>
            <a:ext cx="2377440" cy="1005840"/>
          </a:xfrm>
          <a:prstGeom prst="rect">
            <a:avLst/>
          </a:prstGeom>
          <a:solidFill>
            <a:srgbClr val="0D2240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38221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326880" y="43159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326880" y="4937760"/>
            <a:ext cx="2377440" cy="1005840"/>
          </a:xfrm>
          <a:prstGeom prst="rect">
            <a:avLst/>
          </a:prstGeom>
          <a:solidFill>
            <a:srgbClr val="0D2240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50109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$6M+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326880" y="55046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ROI/yr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5669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5486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70432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832" y="122529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manual loan review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176272"/>
            <a:ext cx="5669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76272"/>
            <a:ext cx="5486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76272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41832" y="223113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Overview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1832" y="2651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AI decision architecture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182112"/>
            <a:ext cx="5669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182112"/>
            <a:ext cx="5486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82112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1832" y="323697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Methodology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1832" y="3657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algorithms, validation strategy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187952"/>
            <a:ext cx="5669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187952"/>
            <a:ext cx="5486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187952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1832" y="424281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Comparison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1832" y="4663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head-to-head with metrics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5193792"/>
            <a:ext cx="5669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5193792"/>
            <a:ext cx="5486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5193792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41832" y="524865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41832" y="5669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raw → 41 engineered signals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1170432"/>
            <a:ext cx="5669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1170432"/>
            <a:ext cx="5486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1170432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39712" y="122529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 Underwriting Rules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39712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business gates — real lending standards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2176272"/>
            <a:ext cx="5669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2176272"/>
            <a:ext cx="5486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2176272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839712" y="223113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Results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39712" y="2651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99.77% AUC — signal direction validation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17920" y="3182112"/>
            <a:ext cx="5669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17920" y="3182112"/>
            <a:ext cx="5486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3182112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39712" y="323697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 &amp; ROI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39712" y="3657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$5.2M–$6.0M net annual value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17920" y="4187952"/>
            <a:ext cx="5669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17920" y="4187952"/>
            <a:ext cx="5486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4187952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839712" y="424281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Advantage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839712" y="4663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Wells Fargo, Rocket, SoFi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17920" y="5193792"/>
            <a:ext cx="5669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217920" y="5193792"/>
            <a:ext cx="5486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0" y="5193792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6839712" y="524865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&amp; Glossary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839712" y="5669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enhancements, abbreviations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Mandeep Sharma  ·  NexaVault Financial Corp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loan review is costing NexaVault millions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56692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5669280" cy="731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3502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⏱  Slow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" y="1737360"/>
            <a:ext cx="53035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business days per application. Competitors return decisions in minutes. Customer attrition is accelerating.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170432"/>
            <a:ext cx="56692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170432"/>
            <a:ext cx="566928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33502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  Biased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82512" y="1737360"/>
            <a:ext cx="53035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heuristics vary. Same applicant gets different outcomes from different officers — unauditable and unfair.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456432"/>
            <a:ext cx="56692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56432"/>
            <a:ext cx="5669280" cy="731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62102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📉  Lost Revenue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" y="4023360"/>
            <a:ext cx="53035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10–15% of good applicants incorrectly rejected. At NexaVault's volume, this is millions in missed origination fees.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456432"/>
            <a:ext cx="56692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3456432"/>
            <a:ext cx="566928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362102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💸  Financial Loss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82512" y="4023360"/>
            <a:ext cx="53035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applicants slip through. Bad loans generate defaults, write-offs, and regulatory penalties.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Mandeep Sharma  ·  NexaVault Financial Corp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NexaVault Intelligent Loan Approval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56032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5272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99.77%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194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— Gradient Boosting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4408" y="1115568"/>
            <a:ext cx="256032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64408" y="125272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200ms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64408" y="19202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Time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64408" y="2194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3–5 days manual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08776" y="1115568"/>
            <a:ext cx="256032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08776" y="125272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$0.002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08776" y="19202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Decision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08776" y="2194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$45–$80 manual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53144" y="1115568"/>
            <a:ext cx="256032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378A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53144" y="125272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153144" y="19202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53144" y="2194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rejection gates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2743200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Architecture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" y="312724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1272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694176"/>
            <a:ext cx="80467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3694176"/>
            <a:ext cx="804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88720" y="33101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825496" y="3127248"/>
            <a:ext cx="475488" cy="47548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25496" y="31272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660904" y="3694176"/>
            <a:ext cx="80467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660904" y="3694176"/>
            <a:ext cx="804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Hard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29584" y="33101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166360" y="3127248"/>
            <a:ext cx="475488" cy="475488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31272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001768" y="3694176"/>
            <a:ext cx="80467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01768" y="3694176"/>
            <a:ext cx="804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70448" y="33101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5E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507224" y="3127248"/>
            <a:ext cx="475488" cy="47548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07224" y="31272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342632" y="3694176"/>
            <a:ext cx="80467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42632" y="3694176"/>
            <a:ext cx="804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11312" y="33101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848088" y="3127248"/>
            <a:ext cx="475488" cy="47548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48088" y="31272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9683496" y="3694176"/>
            <a:ext cx="80467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683496" y="3694176"/>
            <a:ext cx="804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+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Output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004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includes: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5074920"/>
            <a:ext cx="3749040" cy="411480"/>
          </a:xfrm>
          <a:prstGeom prst="rect">
            <a:avLst/>
          </a:prstGeom>
          <a:solidFill>
            <a:srgbClr val="0D2240"/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5074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APPROVED + APR Rate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270248" y="5074920"/>
            <a:ext cx="3749040" cy="411480"/>
          </a:xfrm>
          <a:prstGeom prst="rect">
            <a:avLst/>
          </a:prstGeom>
          <a:solidFill>
            <a:srgbClr val="0D2240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70248" y="5074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⏸ MANUAL REVIEW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220456" y="5074920"/>
            <a:ext cx="3749040" cy="411480"/>
          </a:xfrm>
          <a:prstGeom prst="rect">
            <a:avLst/>
          </a:prstGeom>
          <a:solidFill>
            <a:srgbClr val="0D2240"/>
          </a:solidFill>
          <a:ln w="10160">
            <a:solidFill>
              <a:srgbClr val="E24B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0456" y="5074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REJECTED + Reason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Mandeep Sharma  ·  NexaVault Financial Corp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Methodology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pipeline architecture, and validation strategy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4919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557784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55778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276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6276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training + 500 test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975104"/>
            <a:ext cx="5577840" cy="402336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299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20299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input fields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377440"/>
            <a:ext cx="55778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3230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243230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derived → 41 total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779776"/>
            <a:ext cx="5577840" cy="402336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346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4640" y="28346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/ Review / Rejected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182112"/>
            <a:ext cx="55778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369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323697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66.2% (realistic imbalance)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584448"/>
            <a:ext cx="5577840" cy="402336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393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range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34640" y="36393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$16K – $432K / year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986784"/>
            <a:ext cx="55778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0416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range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34640" y="40416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 – $1,000K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389120"/>
            <a:ext cx="5577840" cy="402336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4439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range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34640" y="444398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– $10,000 / month (14 steps)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4791456"/>
            <a:ext cx="55778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463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tiers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34640" y="48463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(Experian model, 300–850)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5193792"/>
            <a:ext cx="5577840" cy="402336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2486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products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834640" y="524865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types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72200" y="1115568"/>
            <a:ext cx="5669280" cy="4919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1115568"/>
            <a:ext cx="566928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1115568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sklearn Pipeline Architecture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172200" y="1572768"/>
            <a:ext cx="256032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1591056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92240" y="179222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numerical/categorical features to sub-pipelines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72200" y="2103120"/>
            <a:ext cx="256032" cy="43891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212140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Numerical: SimpleImputer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92240" y="2322576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missing values with column median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72200" y="2633472"/>
            <a:ext cx="256032" cy="43891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265176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Numerical: StandardScaler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92240" y="2852928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Normalises to mean=0, std=1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72200" y="3163824"/>
            <a:ext cx="256032" cy="43891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0" y="318211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 SimpleImputer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92240" y="338328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missing categories with mode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72200" y="3694176"/>
            <a:ext cx="256032" cy="43891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92240" y="371246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 OneHotEncoder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92240" y="391363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columns; handle_unknown='ignore'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172200" y="4224528"/>
            <a:ext cx="256032" cy="43891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92240" y="4242816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Classifier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92240" y="444398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(winner of 5-fold CV)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172200" y="4754880"/>
            <a:ext cx="256032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0" y="477316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492240" y="4974336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splits preserve class balance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172200" y="5285232"/>
            <a:ext cx="256032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92240" y="530352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ROC-AUC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492240" y="5504688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accuracy for imbalanced classes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Mandeep Sharma  ·  NexaVault Financial Corp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Selection &amp; Comparison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evaluated — 5-fold stratified cross-validation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9260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1143000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14173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00984" y="1143000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AUC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14173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143000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1143000"/>
            <a:ext cx="13258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35624" y="1143000"/>
            <a:ext cx="1216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06640" y="1143000"/>
            <a:ext cx="13258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1504" y="1143000"/>
            <a:ext cx="1216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732520" y="1143000"/>
            <a:ext cx="13258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87384" y="1143000"/>
            <a:ext cx="1216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058400" y="1143000"/>
            <a:ext cx="13258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13264" y="1143000"/>
            <a:ext cx="1216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1490472"/>
            <a:ext cx="29260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" y="1499616"/>
            <a:ext cx="28163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 ★ WINNER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1490472"/>
            <a:ext cx="14173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00984" y="1499616"/>
            <a:ext cx="13075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99.44%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490472"/>
            <a:ext cx="14173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1499616"/>
            <a:ext cx="13075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99.77%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80760" y="1490472"/>
            <a:ext cx="13258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5624" y="1499616"/>
            <a:ext cx="12161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06640" y="1490472"/>
            <a:ext cx="13258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61504" y="1499616"/>
            <a:ext cx="12161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732520" y="1490472"/>
            <a:ext cx="13258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87384" y="1499616"/>
            <a:ext cx="12161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058400" y="1490472"/>
            <a:ext cx="13258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13264" y="1499616"/>
            <a:ext cx="12161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1490472"/>
            <a:ext cx="11064240" cy="384048"/>
          </a:xfrm>
          <a:prstGeom prst="rect">
            <a:avLst/>
          </a:prstGeom>
          <a:solidFill>
            <a:srgbClr val="E8FAF4"/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1490472"/>
            <a:ext cx="29260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" y="1499616"/>
            <a:ext cx="28163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 ★ WINNER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46120" y="1490472"/>
            <a:ext cx="14173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00984" y="1499616"/>
            <a:ext cx="13075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99.44%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1490472"/>
            <a:ext cx="14173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18304" y="1499616"/>
            <a:ext cx="13075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99.77%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80760" y="1490472"/>
            <a:ext cx="13258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35624" y="1499616"/>
            <a:ext cx="12161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98.12%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06640" y="1490472"/>
            <a:ext cx="13258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61504" y="1499616"/>
            <a:ext cx="12161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732520" y="1490472"/>
            <a:ext cx="13258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87384" y="1499616"/>
            <a:ext cx="12161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058400" y="1490472"/>
            <a:ext cx="13258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13264" y="1499616"/>
            <a:ext cx="12161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0040" y="1874520"/>
            <a:ext cx="29260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4904" y="1883664"/>
            <a:ext cx="28163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46120" y="1874520"/>
            <a:ext cx="141732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00984" y="1883664"/>
            <a:ext cx="13075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98.23%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63440" y="1874520"/>
            <a:ext cx="141732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18304" y="1883664"/>
            <a:ext cx="13075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99.03%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080760" y="1874520"/>
            <a:ext cx="13258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35624" y="1883664"/>
            <a:ext cx="12161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96.42%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406640" y="1874520"/>
            <a:ext cx="13258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61504" y="1883664"/>
            <a:ext cx="12161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95.9%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732520" y="1874520"/>
            <a:ext cx="13258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787384" y="1883664"/>
            <a:ext cx="12161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97.0%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0058400" y="1874520"/>
            <a:ext cx="13258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113264" y="1883664"/>
            <a:ext cx="12161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0040" y="2258568"/>
            <a:ext cx="29260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74904" y="2267712"/>
            <a:ext cx="28163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 kernel)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246120" y="2258568"/>
            <a:ext cx="14173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300984" y="2267712"/>
            <a:ext cx="13075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98.52%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663440" y="2258568"/>
            <a:ext cx="14173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18304" y="2267712"/>
            <a:ext cx="13075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98.90%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080760" y="2258568"/>
            <a:ext cx="13258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35624" y="2267712"/>
            <a:ext cx="12161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96.63%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406640" y="2258568"/>
            <a:ext cx="13258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61504" y="2267712"/>
            <a:ext cx="12161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96.1%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732520" y="2258568"/>
            <a:ext cx="13258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787384" y="2267712"/>
            <a:ext cx="12161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97.2%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10058400" y="2258568"/>
            <a:ext cx="13258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113264" y="2267712"/>
            <a:ext cx="12161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97.7%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320040" y="2642616"/>
            <a:ext cx="29260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74904" y="2651760"/>
            <a:ext cx="28163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246120" y="2642616"/>
            <a:ext cx="141732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300984" y="2651760"/>
            <a:ext cx="13075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97.89%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663440" y="2642616"/>
            <a:ext cx="141732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718304" y="2651760"/>
            <a:ext cx="13075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97.65%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080760" y="2642616"/>
            <a:ext cx="13258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35624" y="2651760"/>
            <a:ext cx="12161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94.50%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7406640" y="2642616"/>
            <a:ext cx="13258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461504" y="2651760"/>
            <a:ext cx="12161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732520" y="2642616"/>
            <a:ext cx="13258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787384" y="2651760"/>
            <a:ext cx="12161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94.8%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10058400" y="2642616"/>
            <a:ext cx="13258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113264" y="2651760"/>
            <a:ext cx="12161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320040" y="3218688"/>
            <a:ext cx="11521440" cy="2724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4572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AUC Comparison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457200" y="3657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3291840" y="3712464"/>
            <a:ext cx="7132320" cy="20116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291840" y="3712464"/>
            <a:ext cx="7115916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0497312" y="36576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99.77%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457200" y="41879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3291840" y="4242816"/>
            <a:ext cx="7132320" cy="20116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291840" y="4242816"/>
            <a:ext cx="7053864" cy="2011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497312" y="418795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98.9%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457200" y="471830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773168"/>
            <a:ext cx="7132320" cy="20116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291840" y="4773168"/>
            <a:ext cx="7063136" cy="2011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0497312" y="471830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99.03%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457200" y="52486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3291840" y="5303520"/>
            <a:ext cx="7132320" cy="20116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291840" y="5303520"/>
            <a:ext cx="696471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0497312" y="524865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97.65%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7589520" y="3566160"/>
            <a:ext cx="0" cy="2240280"/>
          </a:xfrm>
          <a:prstGeom prst="line">
            <a:avLst/>
          </a:prstGeom>
          <a:noFill/>
          <a:ln w="6350">
            <a:solidFill>
              <a:srgbClr val="E0E6ED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903720" y="58338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10972800" y="58338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8412480" y="3291840"/>
            <a:ext cx="3474720" cy="2487168"/>
          </a:xfrm>
          <a:prstGeom prst="rect">
            <a:avLst/>
          </a:prstGeom>
          <a:solidFill>
            <a:srgbClr val="E8FAF4"/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549640" y="3364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Gradient Boosting Wins</a:t>
            </a:r>
            <a:endParaRPr lang="en-US" sz="1100" dirty="0"/>
          </a:p>
        </p:txBody>
      </p:sp>
      <p:sp>
        <p:nvSpPr>
          <p:cNvPr id="114" name="Text 112"/>
          <p:cNvSpPr/>
          <p:nvPr/>
        </p:nvSpPr>
        <p:spPr>
          <a:xfrm>
            <a:off x="8549640" y="37307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Sequential error correction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8549640" y="41330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Captures non-linear interactions</a:t>
            </a:r>
            <a:endParaRPr lang="en-US" sz="1000" dirty="0"/>
          </a:p>
        </p:txBody>
      </p:sp>
      <p:sp>
        <p:nvSpPr>
          <p:cNvPr id="116" name="Text 114"/>
          <p:cNvSpPr/>
          <p:nvPr/>
        </p:nvSpPr>
        <p:spPr>
          <a:xfrm>
            <a:off x="8549640" y="45354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Native feature importance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8549640" y="49377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generalisation (lowest overfitting)</a:t>
            </a:r>
            <a:endParaRPr lang="en-US" sz="1000" dirty="0"/>
          </a:p>
        </p:txBody>
      </p:sp>
      <p:sp>
        <p:nvSpPr>
          <p:cNvPr id="118" name="Text 116"/>
          <p:cNvSpPr/>
          <p:nvPr/>
        </p:nvSpPr>
        <p:spPr>
          <a:xfrm>
            <a:off x="8549640" y="534009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300 trees × lr 0.05 × depth 4</a:t>
            </a:r>
            <a:endParaRPr lang="en-US" sz="1000" dirty="0"/>
          </a:p>
        </p:txBody>
      </p:sp>
      <p:sp>
        <p:nvSpPr>
          <p:cNvPr id="119" name="Text 117"/>
          <p:cNvSpPr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Mandeep Sharma  ·  NexaVault Financial Corp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raw fields → 41 engineered signals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303520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530352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Derived Features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36192"/>
            <a:ext cx="53035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536192"/>
            <a:ext cx="201168" cy="6217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72768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/ EMI Ratio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18105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 ÷ EMI  ·  Primary affordability: &gt;3× ideal, &lt;1.2× reject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176272"/>
            <a:ext cx="5303520" cy="62179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176272"/>
            <a:ext cx="201168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212848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Ratio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4505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(Debt+EMI) ÷ Monthly income  ·  CFPB rule: &lt;36% ideal, &gt;43% borderline, &gt;50% reject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816352"/>
            <a:ext cx="53035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16352"/>
            <a:ext cx="201168" cy="62179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852928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Score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30906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÷ EMI  ·  Real ability to pay after existing obligations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456432"/>
            <a:ext cx="5303520" cy="62179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456432"/>
            <a:ext cx="201168" cy="62179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493008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Monthly Income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373075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 − debt  ·  What remains before the new loan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4096512"/>
            <a:ext cx="53035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096512"/>
            <a:ext cx="201168" cy="6217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133088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to Income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43708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÷ Annual income  ·  &gt;10× annual income = hard reject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4736592"/>
            <a:ext cx="5303520" cy="62179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736592"/>
            <a:ext cx="201168" cy="62179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773168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Log(Total Income)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50109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log(1 + income)  ·  Normalises right-skewed income distribution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5376672"/>
            <a:ext cx="53035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5376672"/>
            <a:ext cx="201168" cy="62179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413248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Log(Loan Amount)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" y="56509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log(1 + loan K)  ·  Normalises loan amount distribution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897880" y="1115568"/>
            <a:ext cx="5943600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897880" y="1115568"/>
            <a:ext cx="59436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111556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Ordinal Encodings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897880" y="1536192"/>
            <a:ext cx="594360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72768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Tier (Experian)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53328" y="18105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Poor → Exceptional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619488" y="1810512"/>
            <a:ext cx="548640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86416" y="181051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479024" y="1810512"/>
            <a:ext cx="54864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53328" y="1975104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→ 825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897880" y="2194560"/>
            <a:ext cx="5943600" cy="640080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53328" y="2231136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053328" y="24688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Education → Doctoral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619488" y="2468880"/>
            <a:ext cx="548640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186416" y="246888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479024" y="2468880"/>
            <a:ext cx="548640" cy="2011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53328" y="2633472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5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897880" y="2852928"/>
            <a:ext cx="594360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53328" y="2889504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Risk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053328" y="31272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→ Unemployed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619488" y="3127248"/>
            <a:ext cx="54864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186416" y="312724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0479024" y="3127248"/>
            <a:ext cx="548640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53328" y="3291840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(low) → 4 (high)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897880" y="3511296"/>
            <a:ext cx="5943600" cy="640080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3547872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Tenure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053328" y="378561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 months → 10+ years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9619488" y="3785616"/>
            <a:ext cx="548640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186416" y="378561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0479024" y="3785616"/>
            <a:ext cx="54864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053328" y="3950208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5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897880" y="4169664"/>
            <a:ext cx="594360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53328" y="4206240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Bankruptcy History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053328" y="444398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→ Active/Pending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9619488" y="4443984"/>
            <a:ext cx="54864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186416" y="444398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0479024" y="4443984"/>
            <a:ext cx="548640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53328" y="4608576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4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897880" y="4828032"/>
            <a:ext cx="5943600" cy="640080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053328" y="4864608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Quality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6053328" y="510235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Unsecured → Real Estate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9619488" y="5102352"/>
            <a:ext cx="548640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186416" y="510235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0479024" y="5102352"/>
            <a:ext cx="54864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053328" y="5266944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3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897880" y="5486400"/>
            <a:ext cx="594360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5522976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Type Risk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6053328" y="57607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Personal Loan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9619488" y="5760720"/>
            <a:ext cx="54864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186416" y="576072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479024" y="5760720"/>
            <a:ext cx="548640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053328" y="5925312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(low) → 2 (high)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Mandeep Sharma  ·  NexaVault Financial Corp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 Underwriting Rules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business gates — no ML score can override these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114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1115568"/>
            <a:ext cx="301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115568"/>
            <a:ext cx="41148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11556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115568"/>
            <a:ext cx="15544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01184" y="1115568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0" y="1115568"/>
            <a:ext cx="374904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115568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Basis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463040"/>
            <a:ext cx="98298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1554480"/>
            <a:ext cx="292608" cy="29260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1554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&gt; 50%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26280" y="1554480"/>
            <a:ext cx="1371600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89320" y="15544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CFPB ATR Rule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1938528"/>
            <a:ext cx="9829800" cy="475488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2029968"/>
            <a:ext cx="292608" cy="29260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0299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20299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Income/EMI &lt; 1.20×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26280" y="2029968"/>
            <a:ext cx="1371600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20299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89320" y="20299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affordability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2414016"/>
            <a:ext cx="98298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2505456"/>
            <a:ext cx="292608" cy="29260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505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" y="250545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income &lt; $200/mo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26280" y="2505456"/>
            <a:ext cx="1371600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25054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Reject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89320" y="250545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Residual Income Guidelines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2889504"/>
            <a:ext cx="9829800" cy="475488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2980944"/>
            <a:ext cx="292608" cy="29260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980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" y="29809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Active/pending bankruptcy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26280" y="2980944"/>
            <a:ext cx="1371600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29809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Reject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89320" y="29809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U.S.C. § 362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3364992"/>
            <a:ext cx="98298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" y="3456432"/>
            <a:ext cx="292608" cy="29260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34564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2960" y="34564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 late payments in 2 years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26280" y="3456432"/>
            <a:ext cx="1371600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26280" y="3456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Reject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989320" y="34564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standard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" y="3840480"/>
            <a:ext cx="9829800" cy="475488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480" y="3931920"/>
            <a:ext cx="292608" cy="29260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22960" y="39319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≤ 499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26280" y="3931920"/>
            <a:ext cx="1371600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2628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Reject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989320" y="39319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Experian minimum threshold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0040" y="4315968"/>
            <a:ext cx="98298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1480" y="4407408"/>
            <a:ext cx="292608" cy="29260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" y="44074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22960" y="4407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&gt; 10× annual income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26280" y="4407408"/>
            <a:ext cx="1371600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26280" y="44074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Reject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989320" y="44074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serviceability limit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20040" y="4791456"/>
            <a:ext cx="9829800" cy="475488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11480" y="4882896"/>
            <a:ext cx="292608" cy="29260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48828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22960" y="488289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500–579 + &lt;10% down + loan ≥ $100K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26280" y="4882896"/>
            <a:ext cx="1371600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26280" y="48828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989320" y="488289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FHA 4000.1 Handbook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20040" y="5266944"/>
            <a:ext cx="98298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11480" y="5358384"/>
            <a:ext cx="292608" cy="29260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" y="5358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22960" y="535838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43–50%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526280" y="5358384"/>
            <a:ext cx="1371600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26280" y="53583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cap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989320" y="535838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QM guidelines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20040" y="5779008"/>
            <a:ext cx="11521440" cy="384048"/>
          </a:xfrm>
          <a:prstGeom prst="rect">
            <a:avLst/>
          </a:prstGeom>
          <a:solidFill>
            <a:srgbClr val="FEF9EC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02920" y="5815584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1–7 are hard rejects — instant, no appeal. Gates 8–9 are soft caps that force Manual Review. The ML model only scores applications that pass ALL 9 gates.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Mandeep Sharma  ·  NexaVault Financial Corp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Results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metrics + signal direction validation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81635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2816352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25296"/>
            <a:ext cx="2816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99.77%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0040" y="1892808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121408"/>
            <a:ext cx="2816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64408" y="1115568"/>
            <a:ext cx="281635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115568"/>
            <a:ext cx="2816352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225296"/>
            <a:ext cx="2816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98.12%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264408" y="1892808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64408" y="2121408"/>
            <a:ext cx="2816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08776" y="1115568"/>
            <a:ext cx="281635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1115568"/>
            <a:ext cx="2816352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8776" y="1225296"/>
            <a:ext cx="2816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97.8%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208776" y="1892808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08776" y="2121408"/>
            <a:ext cx="2816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approval rate low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53144" y="1115568"/>
            <a:ext cx="281635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53144" y="1115568"/>
            <a:ext cx="2816352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53144" y="1225296"/>
            <a:ext cx="2816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98.5%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153144" y="1892808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53144" y="2121408"/>
            <a:ext cx="2816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customers kept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633472"/>
            <a:ext cx="55778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270662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vs. Approval Rate  ✓ Correct Direction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" y="30632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&lt;$30K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18688" y="3118104"/>
            <a:ext cx="3657600" cy="20116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18688" y="3118104"/>
            <a:ext cx="1499616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306324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4048" y="34838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$30K–$60K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18688" y="3538728"/>
            <a:ext cx="3657600" cy="20116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18688" y="3538728"/>
            <a:ext cx="219456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348386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4048" y="39044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$60K–$100K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18688" y="3959352"/>
            <a:ext cx="3657600" cy="20116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18688" y="3959352"/>
            <a:ext cx="2633472" cy="2011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0" y="390448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84048" y="43251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$100K–$150K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18688" y="4379976"/>
            <a:ext cx="3657600" cy="20116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18688" y="4379976"/>
            <a:ext cx="285292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0" y="432511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84048" y="474573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$150K–$300K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18688" y="4800600"/>
            <a:ext cx="3657600" cy="20116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18688" y="4800600"/>
            <a:ext cx="3218688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474573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84048" y="5166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$300K+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18688" y="5221224"/>
            <a:ext cx="3657600" cy="20116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18688" y="5221224"/>
            <a:ext cx="365760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516636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55778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income → higher approval (correct ✓)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72200" y="2633472"/>
            <a:ext cx="56692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309360" y="270662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Debt vs. Approval Rate  ✓ Correct Direction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309360" y="30632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$0/mo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144000" y="3118104"/>
            <a:ext cx="3474720" cy="20116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144000" y="3118104"/>
            <a:ext cx="271028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2691872" y="306324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309360" y="34838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$500/mo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144000" y="3538728"/>
            <a:ext cx="3474720" cy="20116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144000" y="3538728"/>
            <a:ext cx="2884018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2691872" y="348386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309360" y="39044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$1,000/mo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144000" y="3959352"/>
            <a:ext cx="3474720" cy="20116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144000" y="3959352"/>
            <a:ext cx="2571293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2691872" y="390448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309360" y="43251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$2,000/mo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144000" y="4379976"/>
            <a:ext cx="3474720" cy="20116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144000" y="4379976"/>
            <a:ext cx="2258568" cy="2011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2691872" y="432511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309360" y="474573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$3,000/mo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9144000" y="4800600"/>
            <a:ext cx="3474720" cy="20116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44000" y="4800600"/>
            <a:ext cx="1563624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2691872" y="474573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309360" y="5166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$4,000/mo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9144000" y="5221224"/>
            <a:ext cx="3474720" cy="20116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144000" y="5221224"/>
            <a:ext cx="938174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2691872" y="516636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309360" y="558698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$5,000/mo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9144000" y="5641848"/>
            <a:ext cx="3474720" cy="20116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144000" y="5641848"/>
            <a:ext cx="486461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2691872" y="558698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309360" y="55778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debt → lower approval (correct ✓)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Mandeep Sharma  ·  NexaVault Financial Corp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 &amp; ROI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 — 10,000 applications per year model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4747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1115568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94760" y="1115568"/>
            <a:ext cx="32004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9624" y="1115568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995160" y="1115568"/>
            <a:ext cx="374904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50024" y="1115568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NexaVault AI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463040"/>
            <a:ext cx="34747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" y="1472184"/>
            <a:ext cx="3364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Time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94760" y="1463040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9624" y="1472184"/>
            <a:ext cx="30906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business days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95160" y="1463040"/>
            <a:ext cx="37490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0024" y="1472184"/>
            <a:ext cx="36393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 milliseconds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847088"/>
            <a:ext cx="347472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" y="1856232"/>
            <a:ext cx="3364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Decision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94760" y="1847088"/>
            <a:ext cx="320040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9624" y="1856232"/>
            <a:ext cx="30906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 – $80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95160" y="1847088"/>
            <a:ext cx="374904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0024" y="1856232"/>
            <a:ext cx="36393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~$0.002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231136"/>
            <a:ext cx="34747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" y="2240280"/>
            <a:ext cx="3364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(AUC)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94760" y="2231136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9624" y="2240280"/>
            <a:ext cx="30906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~75–80% (estimated)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95160" y="2231136"/>
            <a:ext cx="37490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0024" y="2240280"/>
            <a:ext cx="36393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99.77%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2615184"/>
            <a:ext cx="347472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" y="2624328"/>
            <a:ext cx="3364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94760" y="2615184"/>
            <a:ext cx="320040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9624" y="2624328"/>
            <a:ext cx="30906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– officer bias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95160" y="2615184"/>
            <a:ext cx="374904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0024" y="2624328"/>
            <a:ext cx="36393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consistent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2999232"/>
            <a:ext cx="34747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" y="3008376"/>
            <a:ext cx="3364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794760" y="2999232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9624" y="3008376"/>
            <a:ext cx="30906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– hire more staff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95160" y="2999232"/>
            <a:ext cx="37490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50024" y="3008376"/>
            <a:ext cx="36393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concurrent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3383280"/>
            <a:ext cx="347472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" y="3392424"/>
            <a:ext cx="3364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794760" y="3383280"/>
            <a:ext cx="320040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9624" y="3392424"/>
            <a:ext cx="30906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– no audit trail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995160" y="3383280"/>
            <a:ext cx="374904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50024" y="3392424"/>
            <a:ext cx="36393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factor logged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" y="3767328"/>
            <a:ext cx="34747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" y="3776472"/>
            <a:ext cx="3364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Rejections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794760" y="3767328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9624" y="3776472"/>
            <a:ext cx="30906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~10–15%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95160" y="3767328"/>
            <a:ext cx="37490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50024" y="3776472"/>
            <a:ext cx="36393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1.5%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" y="4151376"/>
            <a:ext cx="347472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" y="4160520"/>
            <a:ext cx="3364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Approvals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794760" y="4151376"/>
            <a:ext cx="320040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9624" y="4160520"/>
            <a:ext cx="30906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Unquantified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995160" y="4151376"/>
            <a:ext cx="374904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50024" y="4160520"/>
            <a:ext cx="36393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2.2%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20040" y="4681728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Modelled Annual ROI (10,000 applications/year)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320040" y="5047488"/>
            <a:ext cx="2240280" cy="1261872"/>
          </a:xfrm>
          <a:prstGeom prst="rect">
            <a:avLst/>
          </a:prstGeom>
          <a:solidFill>
            <a:srgbClr val="0D2240"/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51023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$1.5M – $2.25M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320040" y="555955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revenue — false rejection fix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679192" y="5047488"/>
            <a:ext cx="2240280" cy="1261872"/>
          </a:xfrm>
          <a:prstGeom prst="rect">
            <a:avLst/>
          </a:prstGeom>
          <a:solidFill>
            <a:srgbClr val="0D2240"/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679192" y="51023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$3.0M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2679192" y="555955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defaults — false approval fix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038344" y="5047488"/>
            <a:ext cx="2240280" cy="1261872"/>
          </a:xfrm>
          <a:prstGeom prst="rect">
            <a:avLst/>
          </a:prstGeom>
          <a:solidFill>
            <a:srgbClr val="0D2240"/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38344" y="51023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$625K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5038344" y="555955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savings — officer time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397496" y="5047488"/>
            <a:ext cx="2240280" cy="1261872"/>
          </a:xfrm>
          <a:prstGeom prst="rect">
            <a:avLst/>
          </a:prstGeom>
          <a:solidFill>
            <a:srgbClr val="0D2240"/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97496" y="51023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$500K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7397496" y="555955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— faster decisions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9756648" y="5047488"/>
            <a:ext cx="2240280" cy="1261872"/>
          </a:xfrm>
          <a:prstGeom prst="rect">
            <a:avLst/>
          </a:prstGeom>
          <a:solidFill>
            <a:srgbClr val="0D2240"/>
          </a:solidFill>
          <a:ln w="10160">
            <a:solidFill>
              <a:srgbClr val="E24B4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756648" y="51023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−$200K – $400K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9756648" y="555955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maintenance cost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1887200" y="5047488"/>
            <a:ext cx="0" cy="0"/>
          </a:xfrm>
          <a:prstGeom prst="rect">
            <a:avLst/>
          </a:prstGeom>
          <a:noFill/>
          <a:ln/>
        </p:spPr>
      </p:sp>
      <p:sp>
        <p:nvSpPr>
          <p:cNvPr id="77" name="Shape 75"/>
          <p:cNvSpPr/>
          <p:nvPr/>
        </p:nvSpPr>
        <p:spPr>
          <a:xfrm>
            <a:off x="320040" y="4736592"/>
            <a:ext cx="0" cy="0"/>
          </a:xfrm>
          <a:prstGeom prst="rect">
            <a:avLst/>
          </a:prstGeom>
          <a:noFill/>
          <a:ln/>
        </p:spPr>
      </p:sp>
      <p:sp>
        <p:nvSpPr>
          <p:cNvPr id="78" name="Text 76"/>
          <p:cNvSpPr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Mandeep Sharma  ·  NexaVault Financial Corp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Advantage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NexaVault AI vs. leading US lenders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432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111556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63240" y="1115568"/>
            <a:ext cx="17373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18104" y="111556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NexaVault AI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115568"/>
            <a:ext cx="17373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5464" y="111556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Fargo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37960" y="1115568"/>
            <a:ext cx="17373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92824" y="111556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 Mtge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75320" y="1115568"/>
            <a:ext cx="17373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111556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012680" y="1115568"/>
            <a:ext cx="20116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67544" y="111556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1463040"/>
            <a:ext cx="2743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" y="1472184"/>
            <a:ext cx="26334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Speed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63240" y="1463040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18104" y="1472184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200ms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1463040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5464" y="1472184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Min–Days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37960" y="1463040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92824" y="1472184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minute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75320" y="1463040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30184" y="1472184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012680" y="1463040"/>
            <a:ext cx="20116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67544" y="1472184"/>
            <a:ext cx="19019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days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063240" y="1463040"/>
            <a:ext cx="1737360" cy="402336"/>
          </a:xfrm>
          <a:prstGeom prst="rect">
            <a:avLst/>
          </a:prstGeom>
          <a:solidFill>
            <a:srgbClr val="E8FAF4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18104" y="153619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200ms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1865376"/>
            <a:ext cx="274320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" y="1874520"/>
            <a:ext cx="26334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 Audit Trail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63240" y="1865376"/>
            <a:ext cx="173736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18104" y="1874520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9 gates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0600" y="1865376"/>
            <a:ext cx="173736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55464" y="1874520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Proprietary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37960" y="1865376"/>
            <a:ext cx="173736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92824" y="1874520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Proprietary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275320" y="1865376"/>
            <a:ext cx="173736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0184" y="1874520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Limited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012680" y="1865376"/>
            <a:ext cx="20116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67544" y="1874520"/>
            <a:ext cx="19019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063240" y="1865376"/>
            <a:ext cx="1737360" cy="402336"/>
          </a:xfrm>
          <a:prstGeom prst="rect">
            <a:avLst/>
          </a:prstGeom>
          <a:solidFill>
            <a:srgbClr val="E8FAF4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18104" y="1938528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9 gates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2267712"/>
            <a:ext cx="2743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4904" y="2276856"/>
            <a:ext cx="26334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in Response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063240" y="2267712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18104" y="2276856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Per tier/product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00600" y="2267712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2276856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quote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537960" y="2267712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92824" y="2276856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Instant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275320" y="2267712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30184" y="2276856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Rate check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0012680" y="2267712"/>
            <a:ext cx="20116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67544" y="2276856"/>
            <a:ext cx="19019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063240" y="2267712"/>
            <a:ext cx="1737360" cy="402336"/>
          </a:xfrm>
          <a:prstGeom prst="rect">
            <a:avLst/>
          </a:prstGeom>
          <a:solidFill>
            <a:srgbClr val="E8FAF4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18104" y="234086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Per tier/product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0040" y="2670048"/>
            <a:ext cx="274320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4904" y="2679192"/>
            <a:ext cx="26334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Explanation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063240" y="2670048"/>
            <a:ext cx="173736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18104" y="2679192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Plain English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800600" y="2670048"/>
            <a:ext cx="173736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55464" y="2679192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letter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537960" y="2670048"/>
            <a:ext cx="173736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92824" y="2679192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letter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275320" y="2670048"/>
            <a:ext cx="173736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30184" y="2679192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letter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0012680" y="2670048"/>
            <a:ext cx="20116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067544" y="2679192"/>
            <a:ext cx="19019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063240" y="2670048"/>
            <a:ext cx="1737360" cy="402336"/>
          </a:xfrm>
          <a:prstGeom prst="rect">
            <a:avLst/>
          </a:prstGeom>
          <a:solidFill>
            <a:srgbClr val="E8FAF4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118104" y="274320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Plain English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20040" y="3072384"/>
            <a:ext cx="2743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74904" y="3081528"/>
            <a:ext cx="26334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Experian 7-Tier Model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063240" y="3072384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118104" y="3081528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800600" y="3072384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55464" y="3081528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3-bureau pull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537960" y="3072384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592824" y="3081528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3-bureau pull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8275320" y="3072384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330184" y="3081528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pull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0012680" y="3072384"/>
            <a:ext cx="20116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067544" y="3081528"/>
            <a:ext cx="19019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063240" y="3072384"/>
            <a:ext cx="1737360" cy="402336"/>
          </a:xfrm>
          <a:prstGeom prst="rect">
            <a:avLst/>
          </a:prstGeom>
          <a:solidFill>
            <a:srgbClr val="E8FAF4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118104" y="3145536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320040" y="3474720"/>
            <a:ext cx="274320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74904" y="3483864"/>
            <a:ext cx="26334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Advisor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3063240" y="3474720"/>
            <a:ext cx="173736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118104" y="3483864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Built-in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800600" y="3474720"/>
            <a:ext cx="173736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855464" y="3483864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537960" y="3474720"/>
            <a:ext cx="173736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592824" y="3483864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8275320" y="3474720"/>
            <a:ext cx="173736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330184" y="3483864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10012680" y="3474720"/>
            <a:ext cx="20116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067544" y="3483864"/>
            <a:ext cx="19019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3063240" y="3474720"/>
            <a:ext cx="1737360" cy="402336"/>
          </a:xfrm>
          <a:prstGeom prst="rect">
            <a:avLst/>
          </a:prstGeom>
          <a:solidFill>
            <a:srgbClr val="E8FAF4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118104" y="354787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Built-in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0040" y="3877056"/>
            <a:ext cx="2743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74904" y="3886200"/>
            <a:ext cx="26334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 Fairness Audit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3063240" y="3877056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118104" y="3886200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Built-in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4800600" y="3877056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855464" y="3886200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filing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6537960" y="3877056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592824" y="3886200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filing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8275320" y="3877056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330184" y="3886200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filing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10012680" y="3877056"/>
            <a:ext cx="20116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067544" y="3886200"/>
            <a:ext cx="19019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filing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3063240" y="3877056"/>
            <a:ext cx="1737360" cy="402336"/>
          </a:xfrm>
          <a:prstGeom prst="rect">
            <a:avLst/>
          </a:prstGeom>
          <a:solidFill>
            <a:srgbClr val="E8FAF4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118104" y="3950208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Built-in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320040" y="4279392"/>
            <a:ext cx="274320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74904" y="4288536"/>
            <a:ext cx="26334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Stack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3063240" y="4279392"/>
            <a:ext cx="173736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118104" y="4288536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Python/sklearn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4800600" y="4279392"/>
            <a:ext cx="173736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855464" y="4288536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Proprietary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537960" y="4279392"/>
            <a:ext cx="173736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592824" y="4288536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Proprietary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8275320" y="4279392"/>
            <a:ext cx="173736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330184" y="4288536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Proprietary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10012680" y="4279392"/>
            <a:ext cx="20116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0067544" y="4288536"/>
            <a:ext cx="19019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3063240" y="4279392"/>
            <a:ext cx="1737360" cy="402336"/>
          </a:xfrm>
          <a:prstGeom prst="rect">
            <a:avLst/>
          </a:prstGeom>
          <a:solidFill>
            <a:srgbClr val="E8FAF4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118104" y="435254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Python/sklearn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320040" y="4681728"/>
            <a:ext cx="2743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74904" y="4690872"/>
            <a:ext cx="26334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Cost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3063240" y="4681728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118104" y="4690872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~$200K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4800600" y="4681728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855464" y="4690872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$M+ enterprise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6537960" y="4681728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592824" y="4690872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$M+ enterprise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8275320" y="4681728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330184" y="4690872"/>
            <a:ext cx="16276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$M+ enterprise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10012680" y="4681728"/>
            <a:ext cx="20116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0067544" y="4690872"/>
            <a:ext cx="19019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$1M+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3063240" y="4681728"/>
            <a:ext cx="1737360" cy="402336"/>
          </a:xfrm>
          <a:prstGeom prst="rect">
            <a:avLst/>
          </a:prstGeom>
          <a:solidFill>
            <a:srgbClr val="E8FAF4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118104" y="475488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~$200K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320040" y="5166360"/>
            <a:ext cx="11521440" cy="804672"/>
          </a:xfrm>
          <a:prstGeom prst="rect">
            <a:avLst/>
          </a:prstGeom>
          <a:solidFill>
            <a:srgbClr val="E8FAF4"/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02920" y="52395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Differentiators:</a:t>
            </a:r>
            <a:endParaRPr lang="en-US" sz="1100" dirty="0"/>
          </a:p>
        </p:txBody>
      </p:sp>
      <p:sp>
        <p:nvSpPr>
          <p:cNvPr id="146" name="Text 144"/>
          <p:cNvSpPr/>
          <p:nvPr/>
        </p:nvSpPr>
        <p:spPr>
          <a:xfrm>
            <a:off x="502920" y="551383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rejection reasons  ·  Full audit trail  ·  Sub-$0.01 marginal cost  ·  Open-source stack with no vendor lock-in  ·  Interest rate calculator built-in</a:t>
            </a:r>
            <a:endParaRPr lang="en-US" sz="1000" dirty="0"/>
          </a:p>
        </p:txBody>
      </p:sp>
      <p:sp>
        <p:nvSpPr>
          <p:cNvPr id="147" name="Text 145"/>
          <p:cNvSpPr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Mandeep Sharma  ·  NexaVault Financial Corp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Interest Rate Intelligence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US market rates embedded in every approved decision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37744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1115568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Tier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97480" y="1115568"/>
            <a:ext cx="1243584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52344" y="1115568"/>
            <a:ext cx="1133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Buy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41064" y="1115568"/>
            <a:ext cx="1243584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95928" y="1115568"/>
            <a:ext cx="1133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84648" y="1115568"/>
            <a:ext cx="1243584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9512" y="1115568"/>
            <a:ext cx="1133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HELOC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28232" y="1115568"/>
            <a:ext cx="1243584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3096" y="1115568"/>
            <a:ext cx="1133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71816" y="1115568"/>
            <a:ext cx="1243584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1115568"/>
            <a:ext cx="1133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915400" y="1115568"/>
            <a:ext cx="1243584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0264" y="1115568"/>
            <a:ext cx="1133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158984" y="1115568"/>
            <a:ext cx="1243584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13848" y="1115568"/>
            <a:ext cx="1133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1463040"/>
            <a:ext cx="23774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" y="1472184"/>
            <a:ext cx="22677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(800–850)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97480" y="1463040"/>
            <a:ext cx="1243584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52344" y="1472184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6.25%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941064" y="1463040"/>
            <a:ext cx="1243584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95928" y="1472184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6.375%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84648" y="1463040"/>
            <a:ext cx="1243584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9512" y="1472184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7.50%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28232" y="1463040"/>
            <a:ext cx="1243584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83096" y="1472184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5.50%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671816" y="1463040"/>
            <a:ext cx="1243584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6680" y="1472184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9.50%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915400" y="1463040"/>
            <a:ext cx="1243584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70264" y="1472184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8.50%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158984" y="1463040"/>
            <a:ext cx="1243584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13848" y="1472184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5.50%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1463040"/>
            <a:ext cx="2377440" cy="402336"/>
          </a:xfrm>
          <a:prstGeom prst="rect">
            <a:avLst/>
          </a:prstGeom>
          <a:solidFill>
            <a:srgbClr val="000000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" y="1536192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(800–850)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1865376"/>
            <a:ext cx="237744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4904" y="1874520"/>
            <a:ext cx="22677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Good (740–799)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697480" y="1865376"/>
            <a:ext cx="1243584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52344" y="1874520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6.50%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941064" y="1865376"/>
            <a:ext cx="1243584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95928" y="1874520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6.625%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184648" y="1865376"/>
            <a:ext cx="1243584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39512" y="1874520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7.75%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28232" y="1865376"/>
            <a:ext cx="1243584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83096" y="1874520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6.00%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71816" y="1865376"/>
            <a:ext cx="1243584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26680" y="1874520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11.00%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915400" y="1865376"/>
            <a:ext cx="1243584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70264" y="1874520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9.50%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158984" y="1865376"/>
            <a:ext cx="1243584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213848" y="1874520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6.00%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" y="1865376"/>
            <a:ext cx="2377440" cy="402336"/>
          </a:xfrm>
          <a:prstGeom prst="rect">
            <a:avLst/>
          </a:prstGeom>
          <a:solidFill>
            <a:srgbClr val="00000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4904" y="193852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Good (740–799)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0040" y="2267712"/>
            <a:ext cx="23774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4904" y="2276856"/>
            <a:ext cx="22677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(670–739)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697480" y="2267712"/>
            <a:ext cx="1243584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52344" y="2276856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6.875%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941064" y="2267712"/>
            <a:ext cx="1243584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95928" y="2276856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7.00%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184648" y="2267712"/>
            <a:ext cx="1243584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39512" y="2276856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8.25%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28232" y="2267712"/>
            <a:ext cx="1243584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83096" y="2276856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7.25%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671816" y="2267712"/>
            <a:ext cx="1243584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26680" y="2276856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13.50%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915400" y="2267712"/>
            <a:ext cx="1243584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70264" y="2276856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11.00%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0158984" y="2267712"/>
            <a:ext cx="1243584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213848" y="2276856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6.75%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20040" y="2267712"/>
            <a:ext cx="2377440" cy="402336"/>
          </a:xfrm>
          <a:prstGeom prst="rect">
            <a:avLst/>
          </a:prstGeom>
          <a:solidFill>
            <a:srgbClr val="000000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74904" y="234086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(670–739)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20040" y="2670048"/>
            <a:ext cx="237744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74904" y="2679192"/>
            <a:ext cx="22677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(580–669)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697480" y="2670048"/>
            <a:ext cx="1243584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52344" y="2679192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7.50%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941064" y="2670048"/>
            <a:ext cx="1243584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995928" y="2679192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7.75%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184648" y="2670048"/>
            <a:ext cx="1243584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239512" y="2679192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9.50%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428232" y="2670048"/>
            <a:ext cx="1243584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83096" y="2679192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10.50%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7671816" y="2670048"/>
            <a:ext cx="1243584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26680" y="2679192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17.00%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8915400" y="2670048"/>
            <a:ext cx="1243584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970264" y="2679192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14.00%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10158984" y="2670048"/>
            <a:ext cx="1243584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213848" y="2679192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8.50%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320040" y="2670048"/>
            <a:ext cx="2377440" cy="402336"/>
          </a:xfrm>
          <a:prstGeom prst="rect">
            <a:avLst/>
          </a:prstGeom>
          <a:solidFill>
            <a:srgbClr val="000000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74904" y="2743200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(580–669)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0040" y="3072384"/>
            <a:ext cx="23774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74904" y="3081528"/>
            <a:ext cx="22677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(500–579)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2697480" y="3072384"/>
            <a:ext cx="1243584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752344" y="3081528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9.00%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3941064" y="3072384"/>
            <a:ext cx="1243584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995928" y="3081528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9.25%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5184648" y="3072384"/>
            <a:ext cx="1243584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239512" y="3081528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11.00%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6428232" y="3072384"/>
            <a:ext cx="1243584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483096" y="3081528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14.00%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7671816" y="3072384"/>
            <a:ext cx="1243584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726680" y="3081528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22.00%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8915400" y="3072384"/>
            <a:ext cx="1243584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970264" y="3081528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18.00%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10158984" y="3072384"/>
            <a:ext cx="1243584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0213848" y="3081528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10.00%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320040" y="3072384"/>
            <a:ext cx="2377440" cy="402336"/>
          </a:xfrm>
          <a:prstGeom prst="rect">
            <a:avLst/>
          </a:prstGeom>
          <a:solidFill>
            <a:srgbClr val="000000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74904" y="3145536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(500–579)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320040" y="3474720"/>
            <a:ext cx="237744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74904" y="3483864"/>
            <a:ext cx="22677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Poor (300–499)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2697480" y="3474720"/>
            <a:ext cx="1243584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752344" y="3483864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3941064" y="3474720"/>
            <a:ext cx="1243584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995928" y="3483864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5184648" y="3474720"/>
            <a:ext cx="1243584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239512" y="3483864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6428232" y="3474720"/>
            <a:ext cx="1243584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483096" y="3483864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18.00%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7671816" y="3474720"/>
            <a:ext cx="1243584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726680" y="3483864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28.00%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8915400" y="3474720"/>
            <a:ext cx="1243584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970264" y="3483864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10158984" y="3474720"/>
            <a:ext cx="1243584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0213848" y="3483864"/>
            <a:ext cx="11338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13.00%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320040" y="3474720"/>
            <a:ext cx="2377440" cy="402336"/>
          </a:xfrm>
          <a:prstGeom prst="rect">
            <a:avLst/>
          </a:prstGeom>
          <a:solidFill>
            <a:srgbClr val="000000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74904" y="3547872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Poor (300–499)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320040" y="3931920"/>
            <a:ext cx="11521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1" name="Text 129"/>
          <p:cNvSpPr/>
          <p:nvPr/>
        </p:nvSpPr>
        <p:spPr>
          <a:xfrm>
            <a:off x="502920" y="40233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Cost Impact: $300K Home Loan over 30 Years</a:t>
            </a:r>
            <a:endParaRPr lang="en-US" sz="1300" dirty="0"/>
          </a:p>
        </p:txBody>
      </p:sp>
      <p:sp>
        <p:nvSpPr>
          <p:cNvPr id="132" name="Shape 130"/>
          <p:cNvSpPr/>
          <p:nvPr/>
        </p:nvSpPr>
        <p:spPr>
          <a:xfrm>
            <a:off x="457200" y="4434840"/>
            <a:ext cx="2743200" cy="1371600"/>
          </a:xfrm>
          <a:prstGeom prst="rect">
            <a:avLst/>
          </a:prstGeom>
          <a:solidFill>
            <a:srgbClr val="F4F6F9"/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57200" y="44897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6.25%</a:t>
            </a:r>
            <a:endParaRPr lang="en-US" sz="1000" dirty="0"/>
          </a:p>
        </p:txBody>
      </p:sp>
      <p:sp>
        <p:nvSpPr>
          <p:cNvPr id="134" name="Text 132"/>
          <p:cNvSpPr/>
          <p:nvPr/>
        </p:nvSpPr>
        <p:spPr>
          <a:xfrm>
            <a:off x="45720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EMI: $1,847/mo</a:t>
            </a:r>
            <a:endParaRPr lang="en-US" sz="1000" dirty="0"/>
          </a:p>
        </p:txBody>
      </p:sp>
      <p:sp>
        <p:nvSpPr>
          <p:cNvPr id="135" name="Text 133"/>
          <p:cNvSpPr/>
          <p:nvPr/>
        </p:nvSpPr>
        <p:spPr>
          <a:xfrm>
            <a:off x="457200" y="51480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$677K</a:t>
            </a:r>
            <a:endParaRPr lang="en-US" sz="1000" dirty="0"/>
          </a:p>
        </p:txBody>
      </p:sp>
      <p:sp>
        <p:nvSpPr>
          <p:cNvPr id="136" name="Text 134"/>
          <p:cNvSpPr/>
          <p:nvPr/>
        </p:nvSpPr>
        <p:spPr>
          <a:xfrm>
            <a:off x="457200" y="54041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Interest: $377K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3383280" y="4434840"/>
            <a:ext cx="2743200" cy="1371600"/>
          </a:xfrm>
          <a:prstGeom prst="rect">
            <a:avLst/>
          </a:prstGeom>
          <a:solidFill>
            <a:srgbClr val="F4F6F9"/>
          </a:solidFill>
          <a:ln w="10160">
            <a:solidFill>
              <a:srgbClr val="378ADD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383280" y="44897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6.875%</a:t>
            </a:r>
            <a:endParaRPr lang="en-US" sz="1000" dirty="0"/>
          </a:p>
        </p:txBody>
      </p:sp>
      <p:sp>
        <p:nvSpPr>
          <p:cNvPr id="139" name="Text 137"/>
          <p:cNvSpPr/>
          <p:nvPr/>
        </p:nvSpPr>
        <p:spPr>
          <a:xfrm>
            <a:off x="338328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EMI: $1,971/mo</a:t>
            </a:r>
            <a:endParaRPr lang="en-US" sz="1000" dirty="0"/>
          </a:p>
        </p:txBody>
      </p:sp>
      <p:sp>
        <p:nvSpPr>
          <p:cNvPr id="140" name="Text 138"/>
          <p:cNvSpPr/>
          <p:nvPr/>
        </p:nvSpPr>
        <p:spPr>
          <a:xfrm>
            <a:off x="3383280" y="51480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$710K</a:t>
            </a:r>
            <a:endParaRPr lang="en-US" sz="1000" dirty="0"/>
          </a:p>
        </p:txBody>
      </p:sp>
      <p:sp>
        <p:nvSpPr>
          <p:cNvPr id="141" name="Text 139"/>
          <p:cNvSpPr/>
          <p:nvPr/>
        </p:nvSpPr>
        <p:spPr>
          <a:xfrm>
            <a:off x="3383280" y="54041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Interest: $410K</a:t>
            </a:r>
            <a:endParaRPr lang="en-US" sz="1000" dirty="0"/>
          </a:p>
        </p:txBody>
      </p:sp>
      <p:sp>
        <p:nvSpPr>
          <p:cNvPr id="142" name="Shape 140"/>
          <p:cNvSpPr/>
          <p:nvPr/>
        </p:nvSpPr>
        <p:spPr>
          <a:xfrm>
            <a:off x="6309360" y="4434840"/>
            <a:ext cx="2743200" cy="1371600"/>
          </a:xfrm>
          <a:prstGeom prst="rect">
            <a:avLst/>
          </a:prstGeom>
          <a:solidFill>
            <a:srgbClr val="F4F6F9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309360" y="44897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7.50%</a:t>
            </a:r>
            <a:endParaRPr lang="en-US" sz="1000" dirty="0"/>
          </a:p>
        </p:txBody>
      </p:sp>
      <p:sp>
        <p:nvSpPr>
          <p:cNvPr id="144" name="Text 142"/>
          <p:cNvSpPr/>
          <p:nvPr/>
        </p:nvSpPr>
        <p:spPr>
          <a:xfrm>
            <a:off x="630936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EMI: $2,098/mo</a:t>
            </a:r>
            <a:endParaRPr lang="en-US" sz="1000" dirty="0"/>
          </a:p>
        </p:txBody>
      </p:sp>
      <p:sp>
        <p:nvSpPr>
          <p:cNvPr id="145" name="Text 143"/>
          <p:cNvSpPr/>
          <p:nvPr/>
        </p:nvSpPr>
        <p:spPr>
          <a:xfrm>
            <a:off x="6309360" y="51480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$755K</a:t>
            </a:r>
            <a:endParaRPr lang="en-US" sz="1000" dirty="0"/>
          </a:p>
        </p:txBody>
      </p:sp>
      <p:sp>
        <p:nvSpPr>
          <p:cNvPr id="146" name="Text 144"/>
          <p:cNvSpPr/>
          <p:nvPr/>
        </p:nvSpPr>
        <p:spPr>
          <a:xfrm>
            <a:off x="6309360" y="54041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Interest: $455K</a:t>
            </a:r>
            <a:endParaRPr lang="en-US" sz="1000" dirty="0"/>
          </a:p>
        </p:txBody>
      </p:sp>
      <p:sp>
        <p:nvSpPr>
          <p:cNvPr id="147" name="Shape 145"/>
          <p:cNvSpPr/>
          <p:nvPr/>
        </p:nvSpPr>
        <p:spPr>
          <a:xfrm>
            <a:off x="9235440" y="4434840"/>
            <a:ext cx="2743200" cy="1371600"/>
          </a:xfrm>
          <a:prstGeom prst="rect">
            <a:avLst/>
          </a:prstGeom>
          <a:solidFill>
            <a:srgbClr val="F4F6F9"/>
          </a:solidFill>
          <a:ln w="10160">
            <a:solidFill>
              <a:srgbClr val="E24B4A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235440" y="44897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9.00%</a:t>
            </a:r>
            <a:endParaRPr lang="en-US" sz="1000" dirty="0"/>
          </a:p>
        </p:txBody>
      </p:sp>
      <p:sp>
        <p:nvSpPr>
          <p:cNvPr id="149" name="Text 147"/>
          <p:cNvSpPr/>
          <p:nvPr/>
        </p:nvSpPr>
        <p:spPr>
          <a:xfrm>
            <a:off x="923544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EMI: $2,413/mo</a:t>
            </a:r>
            <a:endParaRPr lang="en-US" sz="1000" dirty="0"/>
          </a:p>
        </p:txBody>
      </p:sp>
      <p:sp>
        <p:nvSpPr>
          <p:cNvPr id="150" name="Text 148"/>
          <p:cNvSpPr/>
          <p:nvPr/>
        </p:nvSpPr>
        <p:spPr>
          <a:xfrm>
            <a:off x="9235440" y="51480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$869K</a:t>
            </a:r>
            <a:endParaRPr lang="en-US" sz="1000" dirty="0"/>
          </a:p>
        </p:txBody>
      </p:sp>
      <p:sp>
        <p:nvSpPr>
          <p:cNvPr id="151" name="Text 149"/>
          <p:cNvSpPr/>
          <p:nvPr/>
        </p:nvSpPr>
        <p:spPr>
          <a:xfrm>
            <a:off x="9235440" y="54041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Interest: $569K</a:t>
            </a:r>
            <a:endParaRPr lang="en-US" sz="1000" dirty="0"/>
          </a:p>
        </p:txBody>
      </p:sp>
      <p:sp>
        <p:nvSpPr>
          <p:cNvPr id="152" name="Text 150"/>
          <p:cNvSpPr/>
          <p:nvPr/>
        </p:nvSpPr>
        <p:spPr>
          <a:xfrm>
            <a:off x="320040" y="5870448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credit saves $192K in interest vs. Poor credit over 30 years — a powerful applicant counselling message</a:t>
            </a:r>
            <a:endParaRPr lang="en-US" sz="950" dirty="0"/>
          </a:p>
        </p:txBody>
      </p:sp>
      <p:sp>
        <p:nvSpPr>
          <p:cNvPr id="153" name="Text 151"/>
          <p:cNvSpPr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Mandeep Sharma  ·  NexaVault Financial Corp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stack, API design, and deployment layers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557784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36192"/>
            <a:ext cx="557784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536192"/>
            <a:ext cx="201168" cy="4480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72768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Framework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1773936"/>
            <a:ext cx="5166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1.8 — training, pipelines, CV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984248"/>
            <a:ext cx="5577840" cy="448056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984248"/>
            <a:ext cx="201168" cy="44805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020824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221992"/>
            <a:ext cx="5166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3.0 + NumPy 2.4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432304"/>
            <a:ext cx="557784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432304"/>
            <a:ext cx="201168" cy="44805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468880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2670048"/>
            <a:ext cx="5166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3.1 — REST endpoints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880360"/>
            <a:ext cx="5577840" cy="448056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880360"/>
            <a:ext cx="201168" cy="44805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916936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Persistence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3118104"/>
            <a:ext cx="5166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— serialise full pipeline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328416"/>
            <a:ext cx="557784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328416"/>
            <a:ext cx="201168" cy="44805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364992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3566160"/>
            <a:ext cx="5166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docker-compose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776472"/>
            <a:ext cx="5577840" cy="448056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76472"/>
            <a:ext cx="201168" cy="4480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13048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4014216"/>
            <a:ext cx="5166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HTML/JS (Chart.js)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4224528"/>
            <a:ext cx="557784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4224528"/>
            <a:ext cx="201168" cy="44805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261104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" y="4462272"/>
            <a:ext cx="5166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3.10 + seaborn 0.13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4672584"/>
            <a:ext cx="5577840" cy="448056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672584"/>
            <a:ext cx="201168" cy="44805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709160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" y="4910328"/>
            <a:ext cx="5166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— 47 cells, 11 sections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5120640"/>
            <a:ext cx="557784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5120640"/>
            <a:ext cx="201168" cy="44805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5157216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4360" y="5358384"/>
            <a:ext cx="5166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5568696"/>
            <a:ext cx="5577840" cy="448056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5568696"/>
            <a:ext cx="201168" cy="448056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5605272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Monitoring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94360" y="5806440"/>
            <a:ext cx="5166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AI + MLflow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72200" y="1115568"/>
            <a:ext cx="56692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72200" y="1115568"/>
            <a:ext cx="566928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111556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 Endpoints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172200" y="1554480"/>
            <a:ext cx="56692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36208" y="1645920"/>
            <a:ext cx="594360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36208" y="164592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903720" y="16459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641080" y="16459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health + model status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172200" y="2029968"/>
            <a:ext cx="5669280" cy="457200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36208" y="2121408"/>
            <a:ext cx="5943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36208" y="212140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903720" y="21214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641080" y="212140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applicant decision + rate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172200" y="2505456"/>
            <a:ext cx="56692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36208" y="2596896"/>
            <a:ext cx="594360" cy="25603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36208" y="2596896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903720" y="25968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/predict/batch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641080" y="259689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bulk predictions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172200" y="2980944"/>
            <a:ext cx="5669280" cy="457200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236208" y="3072384"/>
            <a:ext cx="59436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36208" y="3072384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903720" y="30723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/model/info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8641080" y="307238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metadata + feature list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172200" y="3657600"/>
            <a:ext cx="56692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172200" y="3657600"/>
            <a:ext cx="5669280" cy="3657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09360" y="3657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3-Phase Deployment Roadmap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6236208" y="4096512"/>
            <a:ext cx="804672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36208" y="4096512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150608" y="41879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Docker + HTML Dashboard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236208" y="4718304"/>
            <a:ext cx="804672" cy="50292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36208" y="4718304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7150608" y="48097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+ Nginx + CI/CD Pipeline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236208" y="5340096"/>
            <a:ext cx="804672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36208" y="5340096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2+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7150608" y="543153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+ Auto-scaling + Drift Monitor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Mandeep Sharma  ·  NexaVault Financial Corp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loan approval decisions — Gradient Boosting model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11521440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25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/ EMI Ratio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01568" y="1389888"/>
            <a:ext cx="6858000" cy="20116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01568" y="1389888"/>
            <a:ext cx="681990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0" y="1325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35.8%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064240" y="1380744"/>
            <a:ext cx="1051560" cy="237744"/>
          </a:xfrm>
          <a:prstGeom prst="rect">
            <a:avLst/>
          </a:prstGeom>
          <a:solidFill>
            <a:srgbClr val="000000"/>
          </a:solidFill>
          <a:ln w="508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64240" y="1380744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ratio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200" y="17190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Ratio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01568" y="1783080"/>
            <a:ext cx="6858000" cy="20116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01568" y="1783080"/>
            <a:ext cx="34671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0" y="17190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064240" y="1773936"/>
            <a:ext cx="1051560" cy="237744"/>
          </a:xfrm>
          <a:prstGeom prst="rect">
            <a:avLst/>
          </a:prstGeom>
          <a:solidFill>
            <a:srgbClr val="000000"/>
          </a:solidFill>
          <a:ln w="508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64240" y="177393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ratio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57200" y="21122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Log(Total Income)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01568" y="2176272"/>
            <a:ext cx="6858000" cy="20116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01568" y="2176272"/>
            <a:ext cx="25527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0" y="211226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064240" y="2167128"/>
            <a:ext cx="1051560" cy="237744"/>
          </a:xfrm>
          <a:prstGeom prst="rect">
            <a:avLst/>
          </a:prstGeom>
          <a:solidFill>
            <a:srgbClr val="000000"/>
          </a:solidFill>
          <a:ln w="508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064240" y="216712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ratio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" y="250545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to Income Ratio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01568" y="2569464"/>
            <a:ext cx="6858000" cy="20116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01568" y="2569464"/>
            <a:ext cx="2133600" cy="2011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2720" y="25054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1064240" y="2560320"/>
            <a:ext cx="1051560" cy="237744"/>
          </a:xfrm>
          <a:prstGeom prst="rect">
            <a:avLst/>
          </a:prstGeom>
          <a:solidFill>
            <a:srgbClr val="000000"/>
          </a:solidFill>
          <a:ln w="5080">
            <a:solidFill>
              <a:srgbClr val="378A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064240" y="2560320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ratio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57200" y="28986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(Numeric)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01568" y="2962656"/>
            <a:ext cx="6858000" cy="20116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01568" y="2962656"/>
            <a:ext cx="18669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32720" y="289864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1064240" y="2953512"/>
            <a:ext cx="1051560" cy="237744"/>
          </a:xfrm>
          <a:prstGeom prst="rect">
            <a:avLst/>
          </a:prstGeom>
          <a:solidFill>
            <a:srgbClr val="000000"/>
          </a:solidFill>
          <a:ln w="5080">
            <a:solidFill>
              <a:srgbClr val="E8A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064240" y="2953512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Experian tier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57200" y="3291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Log(Loan Amount)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01568" y="3355848"/>
            <a:ext cx="6858000" cy="20116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01568" y="3355848"/>
            <a:ext cx="1485900" cy="2011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32720" y="32918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1064240" y="3346704"/>
            <a:ext cx="1051560" cy="237744"/>
          </a:xfrm>
          <a:prstGeom prst="rect">
            <a:avLst/>
          </a:prstGeom>
          <a:solidFill>
            <a:srgbClr val="000000"/>
          </a:solidFill>
          <a:ln w="5080">
            <a:solidFill>
              <a:srgbClr val="378A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064240" y="3346704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ratio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57200" y="36850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Score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01568" y="3749040"/>
            <a:ext cx="6858000" cy="20116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01568" y="3749040"/>
            <a:ext cx="104775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332720" y="36850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1064240" y="3739896"/>
            <a:ext cx="1051560" cy="237744"/>
          </a:xfrm>
          <a:prstGeom prst="rect">
            <a:avLst/>
          </a:prstGeom>
          <a:solidFill>
            <a:srgbClr val="000000"/>
          </a:solidFill>
          <a:ln w="5080">
            <a:solidFill>
              <a:srgbClr val="1D9E7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064240" y="37398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ratio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57200" y="407822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Score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401568" y="4142232"/>
            <a:ext cx="6858000" cy="20116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01568" y="4142232"/>
            <a:ext cx="838200" cy="2011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332720" y="407822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1064240" y="4133088"/>
            <a:ext cx="1051560" cy="237744"/>
          </a:xfrm>
          <a:prstGeom prst="rect">
            <a:avLst/>
          </a:prstGeom>
          <a:solidFill>
            <a:srgbClr val="000000"/>
          </a:solidFill>
          <a:ln w="5080">
            <a:solidFill>
              <a:srgbClr val="7B5EA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064240" y="413308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57200" y="447141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Risk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401568" y="4535424"/>
            <a:ext cx="6858000" cy="20116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01568" y="4535424"/>
            <a:ext cx="7239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332720" y="447141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1064240" y="4526280"/>
            <a:ext cx="1051560" cy="237744"/>
          </a:xfrm>
          <a:prstGeom prst="rect">
            <a:avLst/>
          </a:prstGeom>
          <a:solidFill>
            <a:srgbClr val="000000"/>
          </a:solidFill>
          <a:ln w="5080">
            <a:solidFill>
              <a:srgbClr val="E8A02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064240" y="4526280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57200" y="48646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Bankruptcy Num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401568" y="4928616"/>
            <a:ext cx="6858000" cy="20116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401568" y="4928616"/>
            <a:ext cx="609600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332720" y="486460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1064240" y="4919472"/>
            <a:ext cx="1051560" cy="237744"/>
          </a:xfrm>
          <a:prstGeom prst="rect">
            <a:avLst/>
          </a:prstGeom>
          <a:solidFill>
            <a:srgbClr val="000000"/>
          </a:solidFill>
          <a:ln w="5080">
            <a:solidFill>
              <a:srgbClr val="E24B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064240" y="4919472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457200" y="5257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Payments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401568" y="5321808"/>
            <a:ext cx="6858000" cy="20116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401568" y="5321808"/>
            <a:ext cx="552450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332720" y="5257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2.9%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1064240" y="5312664"/>
            <a:ext cx="1051560" cy="237744"/>
          </a:xfrm>
          <a:prstGeom prst="rect">
            <a:avLst/>
          </a:prstGeom>
          <a:solidFill>
            <a:srgbClr val="000000"/>
          </a:solidFill>
          <a:ln w="5080">
            <a:solidFill>
              <a:srgbClr val="E24B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1064240" y="5312664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numeric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457200" y="56509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Payment 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401568" y="5715000"/>
            <a:ext cx="6858000" cy="20116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401568" y="5715000"/>
            <a:ext cx="495300" cy="201168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332720" y="56509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2.6%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1064240" y="5705856"/>
            <a:ext cx="1051560" cy="237744"/>
          </a:xfrm>
          <a:prstGeom prst="rect">
            <a:avLst/>
          </a:prstGeom>
          <a:solidFill>
            <a:srgbClr val="000000"/>
          </a:solidFill>
          <a:ln w="5080">
            <a:solidFill>
              <a:srgbClr val="8A9BB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064240" y="570585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numeric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457200" y="58064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categories: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965960" y="5833872"/>
            <a:ext cx="164592" cy="1645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176272" y="5806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ratios (DTI, Income/EMI)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977640" y="5833872"/>
            <a:ext cx="164592" cy="1645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187952" y="5806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989320" y="5833872"/>
            <a:ext cx="164592" cy="16459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199632" y="5806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&amp; loan amount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8001000" y="5833872"/>
            <a:ext cx="164592" cy="16459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211312" y="5806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Collateral/ordinal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10012680" y="5833872"/>
            <a:ext cx="164592" cy="16459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222992" y="5806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flags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Mandeep Sharma  ·  NexaVault Financial Corp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Fairness, Explainability &amp; Compliance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 monitoring, audit trail, and applicant transparency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557784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25296"/>
            <a:ext cx="5358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ECOA Fairness Analysis (Built-In)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" y="1591056"/>
            <a:ext cx="5321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monitors approval rates across all demographic groups (gender, marital status, citizenship) and computes Disparate Impact Ratios per the 80% rule. Any group falling below 80% of the highest group's approval rate triggers a review flag.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" y="1938528"/>
            <a:ext cx="5321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attributes are NOT used as model features — all approval differences trace to legitimate financial signals (DTI, income, credit score).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1115568"/>
            <a:ext cx="56692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115568"/>
            <a:ext cx="5669280" cy="6400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1225296"/>
            <a:ext cx="5449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Adverse Action Notices (Future)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0216" y="1591056"/>
            <a:ext cx="5413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rejection generates a plain-English explanation of which specific factor(s) led to the decision — not a generic letter. This exceeds FCRA and ECOA adverse action notice requirements.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0216" y="1938528"/>
            <a:ext cx="5413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'Your DTI ratio of 63.0% exceeds the 50% maximum. Monthly obligations of $4,278 are too high relative to your monthly income of $4,583.'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547872"/>
            <a:ext cx="55778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547872"/>
            <a:ext cx="557784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657600"/>
            <a:ext cx="5358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Improvement Advisor (Built-In)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" y="4023360"/>
            <a:ext cx="5321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applicants receive specific, actionable advice: extend the loan term to lower EMI, reduce existing debt, improve credit score, add a co-applicant, or increase down payment.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056" y="4370832"/>
            <a:ext cx="5321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transforms a rejection into a roadmap — differentiating NexaVault from competitors who provide only generic decline letters.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3547872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3547872"/>
            <a:ext cx="5669280" cy="640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3657600"/>
            <a:ext cx="5449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Trail &amp; Regulatory Compliance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0216" y="4023360"/>
            <a:ext cx="5413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logged with: timestamp, applicant ID, all 9 gate results, model probability, decision threshold applied, and interest rate returned.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0216" y="4370832"/>
            <a:ext cx="5413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with: CFPB ATR Rule, FHA 4000.1, ECOA, FCRA, HMDA (reporting pipeline in roadmap). Logs stored in structured JSON format for regulatory examination.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Mandeep Sharma  ·  NexaVault Financial Corp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&amp; Infrastructure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development to enterprise-scale cloud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749040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374904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52144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371600"/>
            <a:ext cx="3529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&amp; Staging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" y="1865376"/>
            <a:ext cx="173736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8653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Weeks 1–2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1208" y="226771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22311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Flask server (Python)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" y="2926080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28895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docker-compose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" y="3584448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" y="35478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HTML dashboard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" y="4242816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" y="42062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Postman/curl API testing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" y="4901184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48646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200-record holdout validation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1115568"/>
            <a:ext cx="3749040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97680" y="1115568"/>
            <a:ext cx="3749040" cy="59436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1152144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07408" y="1371600"/>
            <a:ext cx="3529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Production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462272" y="1865376"/>
            <a:ext cx="173736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62272" y="18653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Weeks 3–4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98848" y="2267712"/>
            <a:ext cx="128016" cy="128016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0016" y="22311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t3.medium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98848" y="2926080"/>
            <a:ext cx="128016" cy="128016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28895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 proxy + HTTPS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98848" y="3584448"/>
            <a:ext cx="128016" cy="128016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0016" y="35478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98848" y="4242816"/>
            <a:ext cx="128016" cy="128016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0016" y="42062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JSON logging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98848" y="4901184"/>
            <a:ext cx="128016" cy="128016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0016" y="48646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Encrypt SSL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75320" y="1115568"/>
            <a:ext cx="3749040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75320" y="1115568"/>
            <a:ext cx="3749040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85048" y="1152144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385048" y="1371600"/>
            <a:ext cx="3529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Scale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439912" y="1865376"/>
            <a:ext cx="173736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39912" y="18653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Month 2+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476488" y="2267712"/>
            <a:ext cx="128016" cy="12801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77656" y="22311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Fargate (auto-scale)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476488" y="2926080"/>
            <a:ext cx="128016" cy="12801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77656" y="28895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476488" y="3584448"/>
            <a:ext cx="128016" cy="12801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77656" y="35478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layer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476488" y="4242816"/>
            <a:ext cx="128016" cy="12801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77656" y="42062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monitoring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476488" y="4901184"/>
            <a:ext cx="128016" cy="12801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77656" y="48646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(EKS) — optional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Mandeep Sharma  ·  NexaVault Financial Corp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Roadmap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Immediate, medium-term, and long-term enhancements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13716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111556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91640" y="1115568"/>
            <a:ext cx="38404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46504" y="1115568"/>
            <a:ext cx="3730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32120" y="1115568"/>
            <a:ext cx="38404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86984" y="1115568"/>
            <a:ext cx="3730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372600" y="1115568"/>
            <a:ext cx="2286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27464" y="111556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463040"/>
            <a:ext cx="13716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1472184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wks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91640" y="1463040"/>
            <a:ext cx="3840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46504" y="1472184"/>
            <a:ext cx="3730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per-applicant explanations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32120" y="1463040"/>
            <a:ext cx="3840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86984" y="1472184"/>
            <a:ext cx="3730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— ECOA adverse action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372600" y="1463040"/>
            <a:ext cx="22860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27464" y="1472184"/>
            <a:ext cx="21762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library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1463040"/>
            <a:ext cx="1371600" cy="429768"/>
          </a:xfrm>
          <a:prstGeom prst="rect">
            <a:avLst/>
          </a:prstGeom>
          <a:solidFill>
            <a:srgbClr val="00000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" y="155448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wks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1892808"/>
            <a:ext cx="137160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" y="1901952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wks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91640" y="1892808"/>
            <a:ext cx="38404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46504" y="1901952"/>
            <a:ext cx="3730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rate API integration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32120" y="1892808"/>
            <a:ext cx="38404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86984" y="1901952"/>
            <a:ext cx="3730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Always-current interest rate quotes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372600" y="1892808"/>
            <a:ext cx="228600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27464" y="1901952"/>
            <a:ext cx="21762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Reserve API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1892808"/>
            <a:ext cx="1371600" cy="429768"/>
          </a:xfrm>
          <a:prstGeom prst="rect">
            <a:avLst/>
          </a:prstGeom>
          <a:solidFill>
            <a:srgbClr val="00000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" y="198424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wks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2322576"/>
            <a:ext cx="13716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" y="2331720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91640" y="2322576"/>
            <a:ext cx="3840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46504" y="2331720"/>
            <a:ext cx="3730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historical loan data (PII-masked)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32120" y="2322576"/>
            <a:ext cx="3840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86984" y="2331720"/>
            <a:ext cx="3730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 on real applicant patterns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372600" y="2322576"/>
            <a:ext cx="22860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27464" y="2331720"/>
            <a:ext cx="21762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data warehouse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2322576"/>
            <a:ext cx="1371600" cy="429768"/>
          </a:xfrm>
          <a:prstGeom prst="rect">
            <a:avLst/>
          </a:prstGeom>
          <a:solidFill>
            <a:srgbClr val="000000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" y="2414016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2752344"/>
            <a:ext cx="137160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4904" y="2761488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691640" y="2752344"/>
            <a:ext cx="38404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46504" y="2761488"/>
            <a:ext cx="3730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LightGBM + Neural Network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532120" y="2752344"/>
            <a:ext cx="38404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86984" y="2761488"/>
            <a:ext cx="3730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higher AUC via ensemble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372600" y="2752344"/>
            <a:ext cx="228600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427464" y="2761488"/>
            <a:ext cx="21762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PyTorch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" y="2752344"/>
            <a:ext cx="1371600" cy="429768"/>
          </a:xfrm>
          <a:prstGeom prst="rect">
            <a:avLst/>
          </a:prstGeom>
          <a:solidFill>
            <a:srgbClr val="000000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4904" y="284378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" y="3182112"/>
            <a:ext cx="13716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" y="3191256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mo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691640" y="3182112"/>
            <a:ext cx="3840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46504" y="3191256"/>
            <a:ext cx="3730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detection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532120" y="3182112"/>
            <a:ext cx="3840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86984" y="3191256"/>
            <a:ext cx="3730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when data distribution shifts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372600" y="3182112"/>
            <a:ext cx="22860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427464" y="3191256"/>
            <a:ext cx="21762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AI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0040" y="3182112"/>
            <a:ext cx="1371600" cy="429768"/>
          </a:xfrm>
          <a:prstGeom prst="rect">
            <a:avLst/>
          </a:prstGeom>
          <a:solidFill>
            <a:srgbClr val="000000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4904" y="327355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mo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0040" y="3611880"/>
            <a:ext cx="137160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4904" y="3621024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mo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691640" y="3611880"/>
            <a:ext cx="38404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746504" y="3621024"/>
            <a:ext cx="3730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framework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532120" y="3611880"/>
            <a:ext cx="38404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586984" y="3621024"/>
            <a:ext cx="3730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versions safely in prod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9372600" y="3611880"/>
            <a:ext cx="228600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427464" y="3621024"/>
            <a:ext cx="21762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router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20040" y="3611880"/>
            <a:ext cx="1371600" cy="429768"/>
          </a:xfrm>
          <a:prstGeom prst="rect">
            <a:avLst/>
          </a:prstGeom>
          <a:solidFill>
            <a:srgbClr val="000000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74904" y="370332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mo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20040" y="4041648"/>
            <a:ext cx="13716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74904" y="4050792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691640" y="4041648"/>
            <a:ext cx="3840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746504" y="4050792"/>
            <a:ext cx="3730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OCR — income extraction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532120" y="4041648"/>
            <a:ext cx="3840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586984" y="4050792"/>
            <a:ext cx="3730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Auto-read pay stubs, tax returns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9372600" y="4041648"/>
            <a:ext cx="22860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427464" y="4050792"/>
            <a:ext cx="21762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Textract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20040" y="4041648"/>
            <a:ext cx="1371600" cy="429768"/>
          </a:xfrm>
          <a:prstGeom prst="rect">
            <a:avLst/>
          </a:prstGeom>
          <a:solidFill>
            <a:srgbClr val="000000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74904" y="413308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20040" y="4471416"/>
            <a:ext cx="137160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74904" y="4480560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691640" y="4471416"/>
            <a:ext cx="38404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746504" y="4480560"/>
            <a:ext cx="3730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credit bureau API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5532120" y="4471416"/>
            <a:ext cx="38404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586984" y="4480560"/>
            <a:ext cx="3730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Experian/Equifax/TransUnion pull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9372600" y="4471416"/>
            <a:ext cx="228600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427464" y="4480560"/>
            <a:ext cx="21762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Experian API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320040" y="4471416"/>
            <a:ext cx="1371600" cy="429768"/>
          </a:xfrm>
          <a:prstGeom prst="rect">
            <a:avLst/>
          </a:prstGeom>
          <a:solidFill>
            <a:srgbClr val="000000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74904" y="4562856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0040" y="4901184"/>
            <a:ext cx="13716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74904" y="4910328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1691640" y="4901184"/>
            <a:ext cx="3840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746504" y="4910328"/>
            <a:ext cx="3730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data signals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5532120" y="4901184"/>
            <a:ext cx="3840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586984" y="4910328"/>
            <a:ext cx="3730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transactions, rent payment history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372600" y="4901184"/>
            <a:ext cx="22860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427464" y="4910328"/>
            <a:ext cx="21762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Plaid, Finicity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0040" y="4901184"/>
            <a:ext cx="1371600" cy="429768"/>
          </a:xfrm>
          <a:prstGeom prst="rect">
            <a:avLst/>
          </a:prstGeom>
          <a:solidFill>
            <a:srgbClr val="000000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74904" y="499262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320040" y="5330952"/>
            <a:ext cx="137160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74904" y="5340096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1691640" y="5330952"/>
            <a:ext cx="38404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746504" y="5340096"/>
            <a:ext cx="3730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HMDA regulatory reporting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5532120" y="5330952"/>
            <a:ext cx="384048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586984" y="5340096"/>
            <a:ext cx="3730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filing, adverse action notices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9372600" y="5330952"/>
            <a:ext cx="2286000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427464" y="5340096"/>
            <a:ext cx="21762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reporting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320040" y="5330952"/>
            <a:ext cx="1371600" cy="429768"/>
          </a:xfrm>
          <a:prstGeom prst="rect">
            <a:avLst/>
          </a:prstGeom>
          <a:solidFill>
            <a:srgbClr val="000000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74904" y="542239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Mandeep Sharma  ·  NexaVault Financial Corp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Analytics — Built-In Enhancements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analytical modules included in the Jupyter notebook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83464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" y="1243584"/>
            <a:ext cx="475488" cy="47548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2435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9848" y="12801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Threshold Optimization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" y="1810512"/>
            <a:ext cx="2596896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curve showing net revenue at each probability threshold. Optimal threshold found by maximising $1,500 avg origination fee minus $1,500 avg bad loan cost.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115568"/>
            <a:ext cx="283464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56432" y="1243584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2435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41648" y="12801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Permutation Importance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19856" y="1810512"/>
            <a:ext cx="2596896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feature importance that works for ALL model types including SVM. Shuffles each feature and measures AUC drop — regulatory grade explainability.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63640" y="1115568"/>
            <a:ext cx="283464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1243584"/>
            <a:ext cx="475488" cy="475488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12435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13448" y="12801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Segmentation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91656" y="1810512"/>
            <a:ext cx="2596896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applicants segmented into 4 tiers: Prime (&gt;90%), Near-Prime (80–90%), Standard (65–80%), Manual Review (45–65%). Enables portfolio-level risk management.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235440" y="1115568"/>
            <a:ext cx="283464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400032" y="1243584"/>
            <a:ext cx="475488" cy="475488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0032" y="12435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85248" y="12801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ECOA Fairness Analysis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63456" y="1810512"/>
            <a:ext cx="2596896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impact ratios computed for gender, marital status, citizenship. 80% rule applied. Approval rate distributions visualised per demographic group.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749040"/>
            <a:ext cx="283464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" y="3877056"/>
            <a:ext cx="475488" cy="47548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877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69848" y="391363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Interest Rate Impact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8056" y="4443984"/>
            <a:ext cx="2596896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of $300K loan across credit tiers — from $677K total (Exceptional) to $869K total (Poor). $192K difference is a powerful applicant counselling tool.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91840" y="3749040"/>
            <a:ext cx="283464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56432" y="3877056"/>
            <a:ext cx="475488" cy="47548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56432" y="3877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041648" y="391363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What-If Advisor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19856" y="4443984"/>
            <a:ext cx="2596896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rejected applicant, the system recommends 5 specific improvements: extend term, reduce debt, improve credit, add co-applicant, increase down payment.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63640" y="3749040"/>
            <a:ext cx="283464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28232" y="3877056"/>
            <a:ext cx="475488" cy="475488"/>
          </a:xfrm>
          <a:prstGeom prst="ellipse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877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13448" y="391363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Probability Calibration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91656" y="4443984"/>
            <a:ext cx="2596896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curve verifying that the model's predicted 70% probability corresponds to ~70% actual approval rate. Ensures accurate risk pricing and interest rate assignment.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235440" y="3749040"/>
            <a:ext cx="2834640" cy="2304288"/>
          </a:xfrm>
          <a:prstGeom prst="rect">
            <a:avLst/>
          </a:prstGeom>
          <a:solidFill>
            <a:srgbClr val="E8FAF4"/>
          </a:solidFill>
          <a:ln w="10160">
            <a:solidFill>
              <a:srgbClr val="1D9E7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235440" y="42976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7 analyses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included in the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Jupyter notebook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(47 cells, 11 sections)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Mandeep Sharma  ·  NexaVault Financial Corp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Abbreviations &amp; Glossary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used throughout this presentation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57150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43000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61288" y="1197864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— machine-based simulation of human intelligence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490472"/>
            <a:ext cx="5715000" cy="338328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490472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490472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61288" y="1545336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Programming Interface — defined interface for software communication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1837944"/>
            <a:ext cx="57150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837944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837944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61288" y="189280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Percentage Rate — total yearly cost of borrowing including interest and fees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185416"/>
            <a:ext cx="5715000" cy="338328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185416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185416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61288" y="2240280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ROC Curve — 1.0=perfect, 0.5=random classifier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2532888"/>
            <a:ext cx="57150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532888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532888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61288" y="2587752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Repay — CFPB rule requiring lenders verify repayment ability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2880360"/>
            <a:ext cx="5715000" cy="338328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2880360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880360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61288" y="2935224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Financial Protection Bureau — US financial consumer protection regulator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227832"/>
            <a:ext cx="57150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227832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227832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61288" y="3282696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— technique to estimate model performance on unseen data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3575304"/>
            <a:ext cx="5715000" cy="338328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575304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575304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61288" y="363016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 Ratio — monthly debt payments ÷ gross monthly income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" y="3922776"/>
            <a:ext cx="57150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3922776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922776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61288" y="3977640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Credit Opportunity Act — prohibits discriminatory lending in the US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" y="4270248"/>
            <a:ext cx="5715000" cy="338328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4270248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270248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61288" y="4325112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Equated Monthly Instalment — fixed monthly loan repayment amount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0040" y="4617720"/>
            <a:ext cx="57150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" y="4617720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617720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61288" y="4672584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Housing Administration — US agency insuring mortgage loans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0040" y="4965192"/>
            <a:ext cx="5715000" cy="338328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" y="4965192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965192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61288" y="5020056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Machine — ensemble ML method correcting errors sequentially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0040" y="5312664"/>
            <a:ext cx="57150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" y="5312664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5312664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HELOC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61288" y="53675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Equity Line of Credit — revolving credit secured by home equity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20040" y="5660136"/>
            <a:ext cx="5715000" cy="338328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0040" y="5660136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5660136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HMDA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61288" y="5715000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Mortgage Disclosure Act — requires lenders to report mortgage data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45352" y="1143000"/>
            <a:ext cx="57150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45352" y="1143000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45352" y="1143000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086600" y="1197864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linear model for binary classification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245352" y="1490472"/>
            <a:ext cx="5715000" cy="338328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45352" y="1490472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45352" y="1490472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LTI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086600" y="1545336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Loan-to-Income Ratio — loan amount ÷ annual income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245352" y="1837944"/>
            <a:ext cx="57150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45352" y="1837944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45352" y="1837944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086600" y="189280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algorithms learning patterns from data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245352" y="2185416"/>
            <a:ext cx="5715000" cy="338328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245352" y="2185416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45352" y="2185416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086600" y="2240280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platform for ML experiment tracking and model registry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245352" y="2532888"/>
            <a:ext cx="57150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45352" y="2532888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45352" y="2532888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OHE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086600" y="2587752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— converting categories to binary indicator columns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245352" y="2880360"/>
            <a:ext cx="5715000" cy="338328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245352" y="2880360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45352" y="2880360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7086600" y="2935224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Personally Identifiable Information — data identifying a specific individual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245352" y="3227832"/>
            <a:ext cx="57150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245352" y="3227832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245352" y="3227832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7086600" y="3282696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Mortgage — CFPB-defined safe harbour for compliant mortgage loans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245352" y="3575304"/>
            <a:ext cx="5715000" cy="338328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245352" y="3575304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45352" y="3575304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7086600" y="363016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ensemble of decision trees with randomised feature selection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245352" y="3922776"/>
            <a:ext cx="57150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245352" y="3922776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245352" y="3922776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7086600" y="3977640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Representational State Transfer — standard style for web APIs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245352" y="4270248"/>
            <a:ext cx="5715000" cy="338328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245352" y="4270248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245352" y="4270248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7086600" y="4325112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Operating Characteristic — curve plotting TPR vs FPR at thresholds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6245352" y="4617720"/>
            <a:ext cx="57150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245352" y="4617720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245352" y="4617720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7086600" y="4672584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 — net benefit relative to cost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6245352" y="4965192"/>
            <a:ext cx="5715000" cy="338328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245352" y="4965192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245352" y="4965192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7086600" y="5020056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Additive exPlanations — per-prediction feature attribution method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6245352" y="5312664"/>
            <a:ext cx="57150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245352" y="5312664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245352" y="5312664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7086600" y="53675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— classifier finding maximum-margin decision boundary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6245352" y="5660136"/>
            <a:ext cx="5715000" cy="338328"/>
          </a:xfrm>
          <a:prstGeom prst="rect">
            <a:avLst/>
          </a:prstGeom>
          <a:solidFill>
            <a:srgbClr val="F7FAFC"/>
          </a:solidFill>
          <a:ln w="3810">
            <a:solidFill>
              <a:srgbClr val="E0E6ED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245352" y="5660136"/>
            <a:ext cx="77724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245352" y="5660136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7086600" y="5715000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Rate (Recall) — % of positives correctly identified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Mandeep Sharma  ·  NexaVault Financial Corp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474720"/>
            <a:ext cx="4572000" cy="45720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NexaVault Financial Corp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41148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017520"/>
            <a:ext cx="2651760" cy="1005840"/>
          </a:xfrm>
          <a:prstGeom prst="rect">
            <a:avLst/>
          </a:prstGeom>
          <a:solidFill>
            <a:srgbClr val="0D2240"/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63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99.77%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36393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10712" y="3017520"/>
            <a:ext cx="2651760" cy="1005840"/>
          </a:xfrm>
          <a:prstGeom prst="rect">
            <a:avLst/>
          </a:prstGeom>
          <a:solidFill>
            <a:srgbClr val="0D2240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3063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&lt;200ms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10712" y="36393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18504" y="3017520"/>
            <a:ext cx="2651760" cy="1005840"/>
          </a:xfrm>
          <a:prstGeom prst="rect">
            <a:avLst/>
          </a:prstGeom>
          <a:solidFill>
            <a:srgbClr val="0D2240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3063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$6M+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18504" y="36393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ROI/yr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26296" y="3017520"/>
            <a:ext cx="2651760" cy="1005840"/>
          </a:xfrm>
          <a:prstGeom prst="rect">
            <a:avLst/>
          </a:prstGeom>
          <a:solidFill>
            <a:srgbClr val="0D2240"/>
          </a:solidFill>
          <a:ln w="10160">
            <a:solidFill>
              <a:srgbClr val="378A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26296" y="3063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226296" y="36393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3159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Mandeep Sharma  ·  NexaVault Financial Corp  ·  March 2026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6817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Loan Approval System  v5.0  ·  Gradient Boosting  ·  Flask REST API  ·  Docker  ·  Jupyter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5029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github.com/mandeep-sharma/nexavault-loan-approval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54406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Mandeep Sharma. All rights reserved.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NexaVault — Intelligent Loan Approval System</dc:title>
  <dc:subject>PptxGenJS Presentation</dc:subject>
  <dc:creator>Mandeep Sharma</dc:creator>
  <cp:lastModifiedBy>Mandeep Sharma</cp:lastModifiedBy>
  <cp:revision>1</cp:revision>
  <dcterms:created xsi:type="dcterms:W3CDTF">2026-03-25T21:08:14Z</dcterms:created>
  <dcterms:modified xsi:type="dcterms:W3CDTF">2026-03-25T21:08:14Z</dcterms:modified>
</cp:coreProperties>
</file>