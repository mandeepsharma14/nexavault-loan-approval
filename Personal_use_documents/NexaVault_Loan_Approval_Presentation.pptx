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132320" y="-1097280"/>
            <a:ext cx="3657600" cy="3657600"/>
          </a:xfrm>
          <a:prstGeom prst="ellipse">
            <a:avLst/>
          </a:prstGeom>
          <a:solidFill>
            <a:srgbClr val="028090">
              <a:alpha val="12000"/>
            </a:srgbClr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680960" y="-457200"/>
            <a:ext cx="2377440" cy="2377440"/>
          </a:xfrm>
          <a:prstGeom prst="ellipse">
            <a:avLst/>
          </a:prstGeom>
          <a:solidFill>
            <a:srgbClr val="02C39A">
              <a:alpha val="18000"/>
            </a:srgbClr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82296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spc="3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NexaVault Financial Corp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02920" y="1325880"/>
            <a:ext cx="77724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4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Intelligent Loan</a:t>
            </a:r>
            <a:endParaRPr lang="en-US" sz="48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4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Approval System</a:t>
            </a:r>
            <a:endParaRPr lang="en-US" sz="4800" dirty="0"/>
          </a:p>
        </p:txBody>
      </p:sp>
      <p:sp>
        <p:nvSpPr>
          <p:cNvPr id="7" name="Text 5"/>
          <p:cNvSpPr/>
          <p:nvPr/>
        </p:nvSpPr>
        <p:spPr>
          <a:xfrm>
            <a:off x="502920" y="3200400"/>
            <a:ext cx="6858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6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Machine Learning Pipeline</a:t>
            </a:r>
            <a:endParaRPr lang="en-US" sz="16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6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Fast, Fair &amp; Accurate Loan Decisions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502920" y="4160520"/>
            <a:ext cx="3657600" cy="0"/>
          </a:xfrm>
          <a:prstGeom prst="line">
            <a:avLst/>
          </a:prstGeom>
          <a:noFill/>
          <a:ln w="25400">
            <a:solidFill>
              <a:srgbClr val="02809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434340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Mandeep Sharma  ·  2026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02920" y="475488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Copyright (c) 2026 Mandeep Sharma. All rights reserved.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005840"/>
            <a:ext cx="9144000" cy="54864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164592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Problem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411480" y="658368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manual loan review is broken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65760" y="1325880"/>
            <a:ext cx="3931920" cy="14173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1325880"/>
            <a:ext cx="3931920" cy="73152"/>
          </a:xfrm>
          <a:prstGeom prst="rect">
            <a:avLst/>
          </a:prstGeom>
          <a:solidFill>
            <a:srgbClr val="E05050"/>
          </a:solidFill>
          <a:ln w="12700">
            <a:solidFill>
              <a:srgbClr val="E0505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30352" y="149047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E050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[!]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1024128" y="1490472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D374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Slow Process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30352" y="1856232"/>
            <a:ext cx="36118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review takes 3–5 business days per application, frustrating customers and losing business to faster competitors.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617720" y="1325880"/>
            <a:ext cx="3931920" cy="14173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617720" y="1325880"/>
            <a:ext cx="3931920" cy="73152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782312" y="149047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[~]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5276088" y="1490472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D374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Human Bias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782312" y="1856232"/>
            <a:ext cx="36118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Loan officers apply inconsistent criteria. Personal prejudices and heuristics lead to unfair, unauditable decisions.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65760" y="2880360"/>
            <a:ext cx="3931920" cy="14173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65760" y="2880360"/>
            <a:ext cx="3931920" cy="73152"/>
          </a:xfrm>
          <a:prstGeom prst="rect">
            <a:avLst/>
          </a:prstGeom>
          <a:solidFill>
            <a:srgbClr val="E05050"/>
          </a:solidFill>
          <a:ln w="12700">
            <a:solidFill>
              <a:srgbClr val="E0505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30352" y="304495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E050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[x]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1024128" y="3044952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D374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Lost Revenue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530352" y="3410712"/>
            <a:ext cx="36118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Creditworthy applicants incorrectly rejected. Estimated 12% of good customers turned away due to inconsistent evaluation.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617720" y="2880360"/>
            <a:ext cx="3931920" cy="14173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617720" y="2880360"/>
            <a:ext cx="3931920" cy="73152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782312" y="304495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[$]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5276088" y="3044952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D374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Financial Loss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4782312" y="3410712"/>
            <a:ext cx="36118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High-risk applicants slipping through. Bad loans cost the firm millions in defaults, write-offs, and regulatory penalties.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365760" y="4892040"/>
            <a:ext cx="84124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Copyright (c) 2026 Mandeep Sharma  ·  NexaVault Financial Corp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D1F36"/>
          </a:solidFill>
          <a:ln w="12700">
            <a:solidFill>
              <a:srgbClr val="0D1F3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005840"/>
            <a:ext cx="9144000" cy="54864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164592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Solution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411480" y="658368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NexaVault Intelligent Loan Approval System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74320" y="1280160"/>
            <a:ext cx="2011680" cy="1554480"/>
          </a:xfrm>
          <a:prstGeom prst="rect">
            <a:avLst/>
          </a:prstGeom>
          <a:solidFill>
            <a:srgbClr val="0D2240"/>
          </a:solidFill>
          <a:ln w="10160">
            <a:solidFill>
              <a:srgbClr val="02809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1417320"/>
            <a:ext cx="2011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2C39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&lt; 200ms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274320" y="2084832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Time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274320" y="2395728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3–5 days manual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450592" y="1280160"/>
            <a:ext cx="2011680" cy="1554480"/>
          </a:xfrm>
          <a:prstGeom prst="rect">
            <a:avLst/>
          </a:prstGeom>
          <a:solidFill>
            <a:srgbClr val="0D2240"/>
          </a:solidFill>
          <a:ln w="10160">
            <a:solidFill>
              <a:srgbClr val="02809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450592" y="1417320"/>
            <a:ext cx="2011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2C39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97.4%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2450592" y="2084832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ROC-AUC Score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2450592" y="2395728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accuracy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626864" y="1280160"/>
            <a:ext cx="2011680" cy="1554480"/>
          </a:xfrm>
          <a:prstGeom prst="rect">
            <a:avLst/>
          </a:prstGeom>
          <a:solidFill>
            <a:srgbClr val="0D2240"/>
          </a:solidFill>
          <a:ln w="10160">
            <a:solidFill>
              <a:srgbClr val="02809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626864" y="1417320"/>
            <a:ext cx="2011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2C39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94%</a:t>
            </a:r>
            <a:endParaRPr lang="en-US" sz="3000" dirty="0"/>
          </a:p>
        </p:txBody>
      </p:sp>
      <p:sp>
        <p:nvSpPr>
          <p:cNvPr id="16" name="Text 14"/>
          <p:cNvSpPr/>
          <p:nvPr/>
        </p:nvSpPr>
        <p:spPr>
          <a:xfrm>
            <a:off x="4626864" y="2084832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626864" y="2395728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false approvals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6803136" y="1280160"/>
            <a:ext cx="2011680" cy="1554480"/>
          </a:xfrm>
          <a:prstGeom prst="rect">
            <a:avLst/>
          </a:prstGeom>
          <a:solidFill>
            <a:srgbClr val="0D2240"/>
          </a:solidFill>
          <a:ln w="10160">
            <a:solidFill>
              <a:srgbClr val="02809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803136" y="1417320"/>
            <a:ext cx="2011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2C39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94%</a:t>
            </a:r>
            <a:endParaRPr lang="en-US" sz="3000" dirty="0"/>
          </a:p>
        </p:txBody>
      </p:sp>
      <p:sp>
        <p:nvSpPr>
          <p:cNvPr id="20" name="Text 18"/>
          <p:cNvSpPr/>
          <p:nvPr/>
        </p:nvSpPr>
        <p:spPr>
          <a:xfrm>
            <a:off x="6803136" y="2084832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803136" y="2395728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 customers kept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274320" y="3063240"/>
            <a:ext cx="2011680" cy="1554480"/>
          </a:xfrm>
          <a:prstGeom prst="rect">
            <a:avLst/>
          </a:prstGeom>
          <a:solidFill>
            <a:srgbClr val="0D2240"/>
          </a:solidFill>
          <a:ln w="6350">
            <a:solidFill>
              <a:srgbClr val="1A3A5C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74320" y="3063240"/>
            <a:ext cx="64008" cy="155448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02336" y="3127248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Fair &amp; Unbiased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402336" y="3493008"/>
            <a:ext cx="18288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Algorithm-driven criteria applied equally to every applicant. No human prejudice.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2450592" y="3063240"/>
            <a:ext cx="2011680" cy="1554480"/>
          </a:xfrm>
          <a:prstGeom prst="rect">
            <a:avLst/>
          </a:prstGeom>
          <a:solidFill>
            <a:srgbClr val="0D2240"/>
          </a:solidFill>
          <a:ln w="6350">
            <a:solidFill>
              <a:srgbClr val="1A3A5C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2450592" y="3063240"/>
            <a:ext cx="64008" cy="155448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578608" y="3127248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Experian Credit Model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2578608" y="3493008"/>
            <a:ext cx="18288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7-tier credit scoring: Exceptional → Very Poor, with utilization &amp; history.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4626864" y="3063240"/>
            <a:ext cx="2011680" cy="1554480"/>
          </a:xfrm>
          <a:prstGeom prst="rect">
            <a:avLst/>
          </a:prstGeom>
          <a:solidFill>
            <a:srgbClr val="0D2240"/>
          </a:solidFill>
          <a:ln w="6350">
            <a:solidFill>
              <a:srgbClr val="1A3A5C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626864" y="3063240"/>
            <a:ext cx="64008" cy="155448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754880" y="3127248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Explainable AI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4754880" y="3493008"/>
            <a:ext cx="18288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flags, probability scores, and decision rationale provided for every case.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6803136" y="3063240"/>
            <a:ext cx="2011680" cy="1554480"/>
          </a:xfrm>
          <a:prstGeom prst="rect">
            <a:avLst/>
          </a:prstGeom>
          <a:solidFill>
            <a:srgbClr val="0D2240"/>
          </a:solidFill>
          <a:ln w="6350">
            <a:solidFill>
              <a:srgbClr val="1A3A5C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6803136" y="3063240"/>
            <a:ext cx="64008" cy="155448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931152" y="3127248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Instant &amp; Scalable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6931152" y="3493008"/>
            <a:ext cx="18288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API handles thousands of concurrent applications. Docker-deployed.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365760" y="4892040"/>
            <a:ext cx="84124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304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Copyright (c) 2026 Mandeep Sharma  ·  NexaVault Financial Corp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005840"/>
            <a:ext cx="9144000" cy="54864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164592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ML Pipeline Architecture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411480" y="658368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7-stage end-to-end machine learning workflow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1353312"/>
            <a:ext cx="566928" cy="566928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353312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201168" y="2011680"/>
            <a:ext cx="1078992" cy="74980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201168" y="2011680"/>
            <a:ext cx="1078992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50" b="1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105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050" b="1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Ingestion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289304" y="1636776"/>
            <a:ext cx="155448" cy="0"/>
          </a:xfrm>
          <a:prstGeom prst="line">
            <a:avLst/>
          </a:prstGeom>
          <a:noFill/>
          <a:ln w="19050">
            <a:solidFill>
              <a:srgbClr val="02809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705356" y="1353312"/>
            <a:ext cx="566928" cy="566928"/>
          </a:xfrm>
          <a:prstGeom prst="ellipse">
            <a:avLst/>
          </a:prstGeom>
          <a:solidFill>
            <a:srgbClr val="1779BA"/>
          </a:solidFill>
          <a:ln w="12700">
            <a:solidFill>
              <a:srgbClr val="1779B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705356" y="1353312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1449324" y="2011680"/>
            <a:ext cx="1078992" cy="74980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1449324" y="2011680"/>
            <a:ext cx="1078992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50" b="1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EDA &amp;</a:t>
            </a:r>
            <a:endParaRPr lang="en-US" sz="105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050" b="1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2537460" y="1636776"/>
            <a:ext cx="155448" cy="0"/>
          </a:xfrm>
          <a:prstGeom prst="line">
            <a:avLst/>
          </a:prstGeom>
          <a:noFill/>
          <a:ln w="19050">
            <a:solidFill>
              <a:srgbClr val="1779B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953512" y="1353312"/>
            <a:ext cx="566928" cy="566928"/>
          </a:xfrm>
          <a:prstGeom prst="ellipse">
            <a:avLst/>
          </a:prstGeom>
          <a:solidFill>
            <a:srgbClr val="7B5EA7"/>
          </a:solidFill>
          <a:ln w="12700">
            <a:solidFill>
              <a:srgbClr val="7B5EA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953512" y="1353312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2697480" y="2011680"/>
            <a:ext cx="1078992" cy="74980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2697480" y="2011680"/>
            <a:ext cx="1078992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50" b="1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</a:t>
            </a:r>
            <a:endParaRPr lang="en-US" sz="105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050" b="1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Engineering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3785616" y="1636776"/>
            <a:ext cx="155448" cy="0"/>
          </a:xfrm>
          <a:prstGeom prst="line">
            <a:avLst/>
          </a:prstGeom>
          <a:noFill/>
          <a:ln w="19050">
            <a:solidFill>
              <a:srgbClr val="7B5EA7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201668" y="1353312"/>
            <a:ext cx="566928" cy="566928"/>
          </a:xfrm>
          <a:prstGeom prst="ellipse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201668" y="1353312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3945636" y="2011680"/>
            <a:ext cx="1078992" cy="74980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3945636" y="2011680"/>
            <a:ext cx="1078992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50" b="1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Preprocessing</a:t>
            </a:r>
            <a:endParaRPr lang="en-US" sz="105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050" b="1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5033772" y="1636776"/>
            <a:ext cx="155448" cy="0"/>
          </a:xfrm>
          <a:prstGeom prst="line">
            <a:avLst/>
          </a:prstGeom>
          <a:noFill/>
          <a:ln w="19050">
            <a:solidFill>
              <a:srgbClr val="2E8B57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449824" y="1353312"/>
            <a:ext cx="566928" cy="566928"/>
          </a:xfrm>
          <a:prstGeom prst="ellipse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449824" y="1353312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5193792" y="2011680"/>
            <a:ext cx="1078992" cy="74980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5193792" y="2011680"/>
            <a:ext cx="1078992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50" b="1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</a:t>
            </a:r>
            <a:endParaRPr lang="en-US" sz="105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050" b="1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6281928" y="1636776"/>
            <a:ext cx="155448" cy="0"/>
          </a:xfrm>
          <a:prstGeom prst="line">
            <a:avLst/>
          </a:prstGeom>
          <a:noFill/>
          <a:ln w="19050">
            <a:solidFill>
              <a:srgbClr val="E8A02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6697980" y="1353312"/>
            <a:ext cx="566928" cy="566928"/>
          </a:xfrm>
          <a:prstGeom prst="ellipse">
            <a:avLst/>
          </a:prstGeom>
          <a:solidFill>
            <a:srgbClr val="C0602F"/>
          </a:solidFill>
          <a:ln w="12700">
            <a:solidFill>
              <a:srgbClr val="C0602F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697980" y="1353312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6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6441948" y="2011680"/>
            <a:ext cx="1078992" cy="74980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4" name="Text 32"/>
          <p:cNvSpPr/>
          <p:nvPr/>
        </p:nvSpPr>
        <p:spPr>
          <a:xfrm>
            <a:off x="6441948" y="2011680"/>
            <a:ext cx="1078992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50" b="1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 &amp;</a:t>
            </a:r>
            <a:endParaRPr lang="en-US" sz="105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050" b="1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Selection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7530084" y="1636776"/>
            <a:ext cx="155448" cy="0"/>
          </a:xfrm>
          <a:prstGeom prst="line">
            <a:avLst/>
          </a:prstGeom>
          <a:noFill/>
          <a:ln w="19050">
            <a:solidFill>
              <a:srgbClr val="C0602F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7946136" y="1353312"/>
            <a:ext cx="566928" cy="566928"/>
          </a:xfrm>
          <a:prstGeom prst="ellipse">
            <a:avLst/>
          </a:prstGeom>
          <a:solidFill>
            <a:srgbClr val="E05050"/>
          </a:solidFill>
          <a:ln w="12700">
            <a:solidFill>
              <a:srgbClr val="E0505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7946136" y="1353312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7</a:t>
            </a:r>
            <a:endParaRPr lang="en-US" sz="1600" dirty="0"/>
          </a:p>
        </p:txBody>
      </p:sp>
      <p:sp>
        <p:nvSpPr>
          <p:cNvPr id="38" name="Shape 36"/>
          <p:cNvSpPr/>
          <p:nvPr/>
        </p:nvSpPr>
        <p:spPr>
          <a:xfrm>
            <a:off x="7690104" y="2011680"/>
            <a:ext cx="1078992" cy="74980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9" name="Text 37"/>
          <p:cNvSpPr/>
          <p:nvPr/>
        </p:nvSpPr>
        <p:spPr>
          <a:xfrm>
            <a:off x="7690104" y="2011680"/>
            <a:ext cx="1078992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50" b="1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</a:t>
            </a:r>
            <a:endParaRPr lang="en-US" sz="105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050" b="1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</a:t>
            </a:r>
            <a:endParaRPr lang="en-US" sz="1050" dirty="0"/>
          </a:p>
        </p:txBody>
      </p:sp>
      <p:sp>
        <p:nvSpPr>
          <p:cNvPr id="40" name="Text 38"/>
          <p:cNvSpPr/>
          <p:nvPr/>
        </p:nvSpPr>
        <p:spPr>
          <a:xfrm>
            <a:off x="201168" y="3127248"/>
            <a:ext cx="107899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800 historical</a:t>
            </a:r>
            <a:endParaRPr lang="en-US" sz="90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applications</a:t>
            </a:r>
            <a:endParaRPr lang="en-US" sz="90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 features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1449324" y="3127248"/>
            <a:ext cx="107899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Distribution,</a:t>
            </a:r>
            <a:endParaRPr lang="en-US" sz="90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correlation,</a:t>
            </a:r>
            <a:endParaRPr lang="en-US" sz="90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values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2697480" y="3127248"/>
            <a:ext cx="107899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EMI · DTI ratio</a:t>
            </a:r>
            <a:endParaRPr lang="en-US" sz="90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Income/EMI ·</a:t>
            </a:r>
            <a:endParaRPr lang="en-US" sz="90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 transforms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3945636" y="3127248"/>
            <a:ext cx="107899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StandardScaler</a:t>
            </a:r>
            <a:endParaRPr lang="en-US" sz="90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OneHotEncoder</a:t>
            </a:r>
            <a:endParaRPr lang="en-US" sz="90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Imputation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5193792" y="3127248"/>
            <a:ext cx="107899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models · 5-fold</a:t>
            </a:r>
            <a:endParaRPr lang="en-US" sz="90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stratified CV</a:t>
            </a:r>
            <a:endParaRPr lang="en-US" sz="90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ROC-AUC metric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6441948" y="3127248"/>
            <a:ext cx="107899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Confusion matrix</a:t>
            </a:r>
            <a:endParaRPr lang="en-US" sz="90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 · Precision</a:t>
            </a:r>
            <a:endParaRPr lang="en-US" sz="90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7690104" y="3127248"/>
            <a:ext cx="107899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Flask REST API</a:t>
            </a:r>
            <a:endParaRPr lang="en-US" sz="90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· Nginx</a:t>
            </a:r>
            <a:endParaRPr lang="en-US" sz="90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Auto-scaling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201168" y="4041648"/>
            <a:ext cx="8741664" cy="640080"/>
          </a:xfrm>
          <a:prstGeom prst="rect">
            <a:avLst/>
          </a:prstGeom>
          <a:solidFill>
            <a:srgbClr val="E8F4F8"/>
          </a:solidFill>
          <a:ln w="10160">
            <a:solidFill>
              <a:srgbClr val="028090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320040" y="4096512"/>
            <a:ext cx="85039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7 stages are fully automated, reproducible, and encapsulated in a single sklearn Pipeline object  ·  Saved with joblib  ·  Served via Flask REST API</a:t>
            </a:r>
            <a:endParaRPr lang="en-US" sz="1100" dirty="0"/>
          </a:p>
        </p:txBody>
      </p:sp>
      <p:sp>
        <p:nvSpPr>
          <p:cNvPr id="49" name="Text 47"/>
          <p:cNvSpPr/>
          <p:nvPr/>
        </p:nvSpPr>
        <p:spPr>
          <a:xfrm>
            <a:off x="365760" y="4892040"/>
            <a:ext cx="84124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Copyright (c) 2026 Mandeep Sharma  ·  NexaVault Financial Corp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005840"/>
            <a:ext cx="9144000" cy="54864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164592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Data &amp; Feature Engineering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411480" y="658368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 raw features  →  39 engineered signals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74320" y="1207008"/>
            <a:ext cx="4069080" cy="33832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1207008"/>
            <a:ext cx="4069080" cy="384048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1225296"/>
            <a:ext cx="3886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Raw Input Features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38912" y="1709928"/>
            <a:ext cx="118872" cy="118872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12648" y="1682496"/>
            <a:ext cx="3566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Personal: Gender · Marital Status · Dependents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38912" y="1993392"/>
            <a:ext cx="118872" cy="118872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12648" y="1965960"/>
            <a:ext cx="3566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Education: High School → Doctoral Degree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38912" y="2276856"/>
            <a:ext cx="118872" cy="118872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12648" y="2249424"/>
            <a:ext cx="3566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Employment: 10 status types + Job Tenure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38912" y="2560320"/>
            <a:ext cx="118872" cy="118872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12648" y="2532888"/>
            <a:ext cx="3566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Income: Applicant + Co-applicant + Other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438912" y="2843784"/>
            <a:ext cx="118872" cy="118872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12648" y="2816352"/>
            <a:ext cx="3566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Credit: Experian Tier (7 levels) + Score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438912" y="3127248"/>
            <a:ext cx="118872" cy="118872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12648" y="3099816"/>
            <a:ext cx="3566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Credit Details: Utilization · Late Payments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438912" y="3410712"/>
            <a:ext cx="118872" cy="118872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12648" y="3383280"/>
            <a:ext cx="3566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Bankruptcy History (5 status types)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438912" y="3694176"/>
            <a:ext cx="118872" cy="118872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12648" y="3666744"/>
            <a:ext cx="3566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Loan: Type · Purpose · Amount · Term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438912" y="3977640"/>
            <a:ext cx="118872" cy="118872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12648" y="3950208"/>
            <a:ext cx="3566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 Payment % · Property Area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438912" y="4261104"/>
            <a:ext cx="118872" cy="118872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12648" y="4233672"/>
            <a:ext cx="3566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Collateral Type · Industry Sector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4617720" y="1207008"/>
            <a:ext cx="4251960" cy="33832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617720" y="1207008"/>
            <a:ext cx="4251960" cy="38404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709160" y="1225296"/>
            <a:ext cx="4069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Engineered Features (Key)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4773168" y="1709928"/>
            <a:ext cx="1874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Income / EMI Ratio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6675120" y="1709928"/>
            <a:ext cx="2103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income ÷ monthly EMI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4773168" y="1993392"/>
            <a:ext cx="1874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DTI Ratio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6675120" y="1993392"/>
            <a:ext cx="2103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(Debt + EMI) ÷ monthly income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4773168" y="2276856"/>
            <a:ext cx="1874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Affordability Score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6675120" y="2276856"/>
            <a:ext cx="2103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 income ÷ EMI after all debt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4773168" y="2560320"/>
            <a:ext cx="1874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Loan-to-Income Ratio</a:t>
            </a:r>
            <a:endParaRPr lang="en-US" sz="1050" dirty="0"/>
          </a:p>
        </p:txBody>
      </p:sp>
      <p:sp>
        <p:nvSpPr>
          <p:cNvPr id="39" name="Text 37"/>
          <p:cNvSpPr/>
          <p:nvPr/>
        </p:nvSpPr>
        <p:spPr>
          <a:xfrm>
            <a:off x="6675120" y="2560320"/>
            <a:ext cx="2103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Loan amount ÷ annual income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4773168" y="2843784"/>
            <a:ext cx="1874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Credit Score (Numeric)</a:t>
            </a:r>
            <a:endParaRPr lang="en-US" sz="1050" dirty="0"/>
          </a:p>
        </p:txBody>
      </p:sp>
      <p:sp>
        <p:nvSpPr>
          <p:cNvPr id="41" name="Text 39"/>
          <p:cNvSpPr/>
          <p:nvPr/>
        </p:nvSpPr>
        <p:spPr>
          <a:xfrm>
            <a:off x="6675120" y="2843784"/>
            <a:ext cx="2103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Experian tier mapped to 300–850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4773168" y="3127248"/>
            <a:ext cx="1874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Employment Risk Score</a:t>
            </a:r>
            <a:endParaRPr lang="en-US" sz="1050" dirty="0"/>
          </a:p>
        </p:txBody>
      </p:sp>
      <p:sp>
        <p:nvSpPr>
          <p:cNvPr id="43" name="Text 41"/>
          <p:cNvSpPr/>
          <p:nvPr/>
        </p:nvSpPr>
        <p:spPr>
          <a:xfrm>
            <a:off x="6675120" y="3127248"/>
            <a:ext cx="2103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Ordinal: stable → unemployed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4773168" y="3410712"/>
            <a:ext cx="1874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Log(Total Income)</a:t>
            </a:r>
            <a:endParaRPr lang="en-US" sz="1050" dirty="0"/>
          </a:p>
        </p:txBody>
      </p:sp>
      <p:sp>
        <p:nvSpPr>
          <p:cNvPr id="45" name="Text 43"/>
          <p:cNvSpPr/>
          <p:nvPr/>
        </p:nvSpPr>
        <p:spPr>
          <a:xfrm>
            <a:off x="6675120" y="3410712"/>
            <a:ext cx="2103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Reduces income skewness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4773168" y="3694176"/>
            <a:ext cx="1874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Log(Loan Amount)</a:t>
            </a:r>
            <a:endParaRPr lang="en-US" sz="1050" dirty="0"/>
          </a:p>
        </p:txBody>
      </p:sp>
      <p:sp>
        <p:nvSpPr>
          <p:cNvPr id="47" name="Text 45"/>
          <p:cNvSpPr/>
          <p:nvPr/>
        </p:nvSpPr>
        <p:spPr>
          <a:xfrm>
            <a:off x="6675120" y="3694176"/>
            <a:ext cx="2103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Normalizes loan distribution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4773168" y="3977640"/>
            <a:ext cx="1874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 Monthly Income</a:t>
            </a:r>
            <a:endParaRPr lang="en-US" sz="1050" dirty="0"/>
          </a:p>
        </p:txBody>
      </p:sp>
      <p:sp>
        <p:nvSpPr>
          <p:cNvPr id="49" name="Text 47"/>
          <p:cNvSpPr/>
          <p:nvPr/>
        </p:nvSpPr>
        <p:spPr>
          <a:xfrm>
            <a:off x="6675120" y="3977640"/>
            <a:ext cx="2103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Income minus existing debt</a:t>
            </a:r>
            <a:endParaRPr lang="en-US" sz="1000" dirty="0"/>
          </a:p>
        </p:txBody>
      </p:sp>
      <p:sp>
        <p:nvSpPr>
          <p:cNvPr id="50" name="Text 48"/>
          <p:cNvSpPr/>
          <p:nvPr/>
        </p:nvSpPr>
        <p:spPr>
          <a:xfrm>
            <a:off x="4773168" y="4261104"/>
            <a:ext cx="1874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Annual Income</a:t>
            </a:r>
            <a:endParaRPr lang="en-US" sz="1050" dirty="0"/>
          </a:p>
        </p:txBody>
      </p:sp>
      <p:sp>
        <p:nvSpPr>
          <p:cNvPr id="51" name="Text 49"/>
          <p:cNvSpPr/>
          <p:nvPr/>
        </p:nvSpPr>
        <p:spPr>
          <a:xfrm>
            <a:off x="6675120" y="4261104"/>
            <a:ext cx="2103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Applicant + co-app + other</a:t>
            </a:r>
            <a:endParaRPr lang="en-US" sz="1000" dirty="0"/>
          </a:p>
        </p:txBody>
      </p:sp>
      <p:sp>
        <p:nvSpPr>
          <p:cNvPr id="52" name="Text 50"/>
          <p:cNvSpPr/>
          <p:nvPr/>
        </p:nvSpPr>
        <p:spPr>
          <a:xfrm>
            <a:off x="365760" y="4892040"/>
            <a:ext cx="84124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Copyright (c) 2026 Mandeep Sharma  ·  NexaVault Financial Corp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005840"/>
            <a:ext cx="9144000" cy="54864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164592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Model Performance Results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411480" y="658368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5-fold stratified cross-validation + holdout test set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74320" y="1234440"/>
            <a:ext cx="2286000" cy="384048"/>
          </a:xfrm>
          <a:prstGeom prst="rect">
            <a:avLst/>
          </a:prstGeom>
          <a:solidFill>
            <a:srgbClr val="0A1628"/>
          </a:solidFill>
          <a:ln w="6350">
            <a:solidFill>
              <a:srgbClr val="1A3A5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1234440"/>
            <a:ext cx="2286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Model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2560320" y="1234440"/>
            <a:ext cx="1417320" cy="384048"/>
          </a:xfrm>
          <a:prstGeom prst="rect">
            <a:avLst/>
          </a:prstGeom>
          <a:solidFill>
            <a:srgbClr val="0A1628"/>
          </a:solidFill>
          <a:ln w="6350">
            <a:solidFill>
              <a:srgbClr val="1A3A5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560320" y="1234440"/>
            <a:ext cx="1417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CV AUC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977640" y="1234440"/>
            <a:ext cx="1325880" cy="384048"/>
          </a:xfrm>
          <a:prstGeom prst="rect">
            <a:avLst/>
          </a:prstGeom>
          <a:solidFill>
            <a:srgbClr val="0A1628"/>
          </a:solidFill>
          <a:ln w="6350">
            <a:solidFill>
              <a:srgbClr val="1A3A5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977640" y="1234440"/>
            <a:ext cx="13258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Test AUC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303520" y="1234440"/>
            <a:ext cx="1234440" cy="384048"/>
          </a:xfrm>
          <a:prstGeom prst="rect">
            <a:avLst/>
          </a:prstGeom>
          <a:solidFill>
            <a:srgbClr val="0A1628"/>
          </a:solidFill>
          <a:ln w="6350">
            <a:solidFill>
              <a:srgbClr val="1A3A5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303520" y="1234440"/>
            <a:ext cx="1234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F1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537960" y="1234440"/>
            <a:ext cx="1234440" cy="384048"/>
          </a:xfrm>
          <a:prstGeom prst="rect">
            <a:avLst/>
          </a:prstGeom>
          <a:solidFill>
            <a:srgbClr val="0A1628"/>
          </a:solidFill>
          <a:ln w="6350">
            <a:solidFill>
              <a:srgbClr val="1A3A5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537960" y="1234440"/>
            <a:ext cx="1234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Prec.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7772400" y="1234440"/>
            <a:ext cx="1280160" cy="384048"/>
          </a:xfrm>
          <a:prstGeom prst="rect">
            <a:avLst/>
          </a:prstGeom>
          <a:solidFill>
            <a:srgbClr val="0A1628"/>
          </a:solidFill>
          <a:ln w="6350">
            <a:solidFill>
              <a:srgbClr val="1A3A5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772400" y="1234440"/>
            <a:ext cx="1280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Recall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274320" y="1618488"/>
            <a:ext cx="2286000" cy="438912"/>
          </a:xfrm>
          <a:prstGeom prst="rect">
            <a:avLst/>
          </a:prstGeom>
          <a:solidFill>
            <a:srgbClr val="FFFFFF"/>
          </a:solidFill>
          <a:ln w="508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74320" y="1618488"/>
            <a:ext cx="22860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Logistic Regression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2560320" y="1618488"/>
            <a:ext cx="1417320" cy="438912"/>
          </a:xfrm>
          <a:prstGeom prst="rect">
            <a:avLst/>
          </a:prstGeom>
          <a:solidFill>
            <a:srgbClr val="FFFFFF"/>
          </a:solidFill>
          <a:ln w="5080">
            <a:solidFill>
              <a:srgbClr val="E2E8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560320" y="1618488"/>
            <a:ext cx="14173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98.2%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3977640" y="1618488"/>
            <a:ext cx="1325880" cy="438912"/>
          </a:xfrm>
          <a:prstGeom prst="rect">
            <a:avLst/>
          </a:prstGeom>
          <a:solidFill>
            <a:srgbClr val="FFFFFF"/>
          </a:solidFill>
          <a:ln w="508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977640" y="1618488"/>
            <a:ext cx="13258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96.5%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5303520" y="1618488"/>
            <a:ext cx="1234440" cy="438912"/>
          </a:xfrm>
          <a:prstGeom prst="rect">
            <a:avLst/>
          </a:prstGeom>
          <a:solidFill>
            <a:srgbClr val="FFFFFF"/>
          </a:solidFill>
          <a:ln w="5080">
            <a:solidFill>
              <a:srgbClr val="E2E8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303520" y="1618488"/>
            <a:ext cx="12344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94.4%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6537960" y="1618488"/>
            <a:ext cx="1234440" cy="438912"/>
          </a:xfrm>
          <a:prstGeom prst="rect">
            <a:avLst/>
          </a:prstGeom>
          <a:solidFill>
            <a:srgbClr val="FFFFFF"/>
          </a:solidFill>
          <a:ln w="508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537960" y="1618488"/>
            <a:ext cx="12344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93.8%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7772400" y="1618488"/>
            <a:ext cx="1280160" cy="438912"/>
          </a:xfrm>
          <a:prstGeom prst="rect">
            <a:avLst/>
          </a:prstGeom>
          <a:solidFill>
            <a:srgbClr val="FFFFFF"/>
          </a:solidFill>
          <a:ln w="5080">
            <a:solidFill>
              <a:srgbClr val="E2E8F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772400" y="1618488"/>
            <a:ext cx="12801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95.0%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274320" y="2057400"/>
            <a:ext cx="2286000" cy="438912"/>
          </a:xfrm>
          <a:prstGeom prst="rect">
            <a:avLst/>
          </a:prstGeom>
          <a:solidFill>
            <a:srgbClr val="E8FAF4"/>
          </a:solidFill>
          <a:ln w="5080">
            <a:solidFill>
              <a:srgbClr val="E2E8F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274320" y="2057400"/>
            <a:ext cx="64008" cy="438912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65760" y="2057400"/>
            <a:ext cx="21945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SVM (RBF)  ★</a:t>
            </a:r>
            <a:endParaRPr lang="en-US" sz="1150" dirty="0"/>
          </a:p>
        </p:txBody>
      </p:sp>
      <p:sp>
        <p:nvSpPr>
          <p:cNvPr id="33" name="Shape 31"/>
          <p:cNvSpPr/>
          <p:nvPr/>
        </p:nvSpPr>
        <p:spPr>
          <a:xfrm>
            <a:off x="2560320" y="2057400"/>
            <a:ext cx="1417320" cy="438912"/>
          </a:xfrm>
          <a:prstGeom prst="rect">
            <a:avLst/>
          </a:prstGeom>
          <a:solidFill>
            <a:srgbClr val="E8FAF4"/>
          </a:solidFill>
          <a:ln w="5080">
            <a:solidFill>
              <a:srgbClr val="E2E8F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2560320" y="2057400"/>
            <a:ext cx="14173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98.0%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3977640" y="2057400"/>
            <a:ext cx="1325880" cy="438912"/>
          </a:xfrm>
          <a:prstGeom prst="rect">
            <a:avLst/>
          </a:prstGeom>
          <a:solidFill>
            <a:srgbClr val="E8FAF4"/>
          </a:solidFill>
          <a:ln w="5080">
            <a:solidFill>
              <a:srgbClr val="E2E8F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977640" y="2057400"/>
            <a:ext cx="13258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97.4%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5303520" y="2057400"/>
            <a:ext cx="1234440" cy="438912"/>
          </a:xfrm>
          <a:prstGeom prst="rect">
            <a:avLst/>
          </a:prstGeom>
          <a:solidFill>
            <a:srgbClr val="E8FAF4"/>
          </a:solidFill>
          <a:ln w="5080">
            <a:solidFill>
              <a:srgbClr val="E2E8F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303520" y="2057400"/>
            <a:ext cx="12344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94.1%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6537960" y="2057400"/>
            <a:ext cx="1234440" cy="438912"/>
          </a:xfrm>
          <a:prstGeom prst="rect">
            <a:avLst/>
          </a:prstGeom>
          <a:solidFill>
            <a:srgbClr val="E8FAF4"/>
          </a:solidFill>
          <a:ln w="5080">
            <a:solidFill>
              <a:srgbClr val="E2E8F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537960" y="2057400"/>
            <a:ext cx="12344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93.2%</a:t>
            </a:r>
            <a:endParaRPr lang="en-US" sz="1200" dirty="0"/>
          </a:p>
        </p:txBody>
      </p:sp>
      <p:sp>
        <p:nvSpPr>
          <p:cNvPr id="41" name="Shape 39"/>
          <p:cNvSpPr/>
          <p:nvPr/>
        </p:nvSpPr>
        <p:spPr>
          <a:xfrm>
            <a:off x="7772400" y="2057400"/>
            <a:ext cx="1280160" cy="438912"/>
          </a:xfrm>
          <a:prstGeom prst="rect">
            <a:avLst/>
          </a:prstGeom>
          <a:solidFill>
            <a:srgbClr val="E8FAF4"/>
          </a:solidFill>
          <a:ln w="5080">
            <a:solidFill>
              <a:srgbClr val="E2E8F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7772400" y="2057400"/>
            <a:ext cx="12801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95.0%</a:t>
            </a:r>
            <a:endParaRPr lang="en-US" sz="1200" dirty="0"/>
          </a:p>
        </p:txBody>
      </p:sp>
      <p:sp>
        <p:nvSpPr>
          <p:cNvPr id="43" name="Shape 41"/>
          <p:cNvSpPr/>
          <p:nvPr/>
        </p:nvSpPr>
        <p:spPr>
          <a:xfrm>
            <a:off x="274320" y="2496312"/>
            <a:ext cx="2286000" cy="438912"/>
          </a:xfrm>
          <a:prstGeom prst="rect">
            <a:avLst/>
          </a:prstGeom>
          <a:solidFill>
            <a:srgbClr val="FFFFFF"/>
          </a:solidFill>
          <a:ln w="5080">
            <a:solidFill>
              <a:srgbClr val="E2E8F0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274320" y="2496312"/>
            <a:ext cx="22860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Gradient Boosting</a:t>
            </a:r>
            <a:endParaRPr lang="en-US" sz="1150" dirty="0"/>
          </a:p>
        </p:txBody>
      </p:sp>
      <p:sp>
        <p:nvSpPr>
          <p:cNvPr id="45" name="Shape 43"/>
          <p:cNvSpPr/>
          <p:nvPr/>
        </p:nvSpPr>
        <p:spPr>
          <a:xfrm>
            <a:off x="2560320" y="2496312"/>
            <a:ext cx="1417320" cy="438912"/>
          </a:xfrm>
          <a:prstGeom prst="rect">
            <a:avLst/>
          </a:prstGeom>
          <a:solidFill>
            <a:srgbClr val="FFFFFF"/>
          </a:solidFill>
          <a:ln w="5080">
            <a:solidFill>
              <a:srgbClr val="E2E8F0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2560320" y="2496312"/>
            <a:ext cx="14173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92.9%</a:t>
            </a:r>
            <a:endParaRPr lang="en-US" sz="1200" dirty="0"/>
          </a:p>
        </p:txBody>
      </p:sp>
      <p:sp>
        <p:nvSpPr>
          <p:cNvPr id="47" name="Shape 45"/>
          <p:cNvSpPr/>
          <p:nvPr/>
        </p:nvSpPr>
        <p:spPr>
          <a:xfrm>
            <a:off x="3977640" y="2496312"/>
            <a:ext cx="1325880" cy="438912"/>
          </a:xfrm>
          <a:prstGeom prst="rect">
            <a:avLst/>
          </a:prstGeom>
          <a:solidFill>
            <a:srgbClr val="FFFFFF"/>
          </a:solidFill>
          <a:ln w="5080">
            <a:solidFill>
              <a:srgbClr val="E2E8F0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3977640" y="2496312"/>
            <a:ext cx="13258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94.2%</a:t>
            </a:r>
            <a:endParaRPr lang="en-US" sz="1200" dirty="0"/>
          </a:p>
        </p:txBody>
      </p:sp>
      <p:sp>
        <p:nvSpPr>
          <p:cNvPr id="49" name="Shape 47"/>
          <p:cNvSpPr/>
          <p:nvPr/>
        </p:nvSpPr>
        <p:spPr>
          <a:xfrm>
            <a:off x="5303520" y="2496312"/>
            <a:ext cx="1234440" cy="438912"/>
          </a:xfrm>
          <a:prstGeom prst="rect">
            <a:avLst/>
          </a:prstGeom>
          <a:solidFill>
            <a:srgbClr val="FFFFFF"/>
          </a:solidFill>
          <a:ln w="5080">
            <a:solidFill>
              <a:srgbClr val="E2E8F0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5303520" y="2496312"/>
            <a:ext cx="12344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92.9%</a:t>
            </a:r>
            <a:endParaRPr lang="en-US" sz="1200" dirty="0"/>
          </a:p>
        </p:txBody>
      </p:sp>
      <p:sp>
        <p:nvSpPr>
          <p:cNvPr id="51" name="Shape 49"/>
          <p:cNvSpPr/>
          <p:nvPr/>
        </p:nvSpPr>
        <p:spPr>
          <a:xfrm>
            <a:off x="6537960" y="2496312"/>
            <a:ext cx="1234440" cy="438912"/>
          </a:xfrm>
          <a:prstGeom prst="rect">
            <a:avLst/>
          </a:prstGeom>
          <a:solidFill>
            <a:srgbClr val="FFFFFF"/>
          </a:solidFill>
          <a:ln w="5080">
            <a:solidFill>
              <a:srgbClr val="E2E8F0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6537960" y="2496312"/>
            <a:ext cx="12344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92.3%</a:t>
            </a:r>
            <a:endParaRPr lang="en-US" sz="1200" dirty="0"/>
          </a:p>
        </p:txBody>
      </p:sp>
      <p:sp>
        <p:nvSpPr>
          <p:cNvPr id="53" name="Shape 51"/>
          <p:cNvSpPr/>
          <p:nvPr/>
        </p:nvSpPr>
        <p:spPr>
          <a:xfrm>
            <a:off x="7772400" y="2496312"/>
            <a:ext cx="1280160" cy="438912"/>
          </a:xfrm>
          <a:prstGeom prst="rect">
            <a:avLst/>
          </a:prstGeom>
          <a:solidFill>
            <a:srgbClr val="FFFFFF"/>
          </a:solidFill>
          <a:ln w="5080">
            <a:solidFill>
              <a:srgbClr val="E2E8F0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7772400" y="2496312"/>
            <a:ext cx="12801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93.5%</a:t>
            </a:r>
            <a:endParaRPr lang="en-US" sz="1200" dirty="0"/>
          </a:p>
        </p:txBody>
      </p:sp>
      <p:sp>
        <p:nvSpPr>
          <p:cNvPr id="55" name="Shape 53"/>
          <p:cNvSpPr/>
          <p:nvPr/>
        </p:nvSpPr>
        <p:spPr>
          <a:xfrm>
            <a:off x="274320" y="2935224"/>
            <a:ext cx="2286000" cy="438912"/>
          </a:xfrm>
          <a:prstGeom prst="rect">
            <a:avLst/>
          </a:prstGeom>
          <a:solidFill>
            <a:srgbClr val="F7F9FC"/>
          </a:solidFill>
          <a:ln w="5080">
            <a:solidFill>
              <a:srgbClr val="E2E8F0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274320" y="2935224"/>
            <a:ext cx="22860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</a:t>
            </a:r>
            <a:endParaRPr lang="en-US" sz="1150" dirty="0"/>
          </a:p>
        </p:txBody>
      </p:sp>
      <p:sp>
        <p:nvSpPr>
          <p:cNvPr id="57" name="Shape 55"/>
          <p:cNvSpPr/>
          <p:nvPr/>
        </p:nvSpPr>
        <p:spPr>
          <a:xfrm>
            <a:off x="2560320" y="2935224"/>
            <a:ext cx="1417320" cy="438912"/>
          </a:xfrm>
          <a:prstGeom prst="rect">
            <a:avLst/>
          </a:prstGeom>
          <a:solidFill>
            <a:srgbClr val="F7F9FC"/>
          </a:solidFill>
          <a:ln w="5080">
            <a:solidFill>
              <a:srgbClr val="E2E8F0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2560320" y="2935224"/>
            <a:ext cx="14173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92.1%</a:t>
            </a:r>
            <a:endParaRPr lang="en-US" sz="1200" dirty="0"/>
          </a:p>
        </p:txBody>
      </p:sp>
      <p:sp>
        <p:nvSpPr>
          <p:cNvPr id="59" name="Shape 57"/>
          <p:cNvSpPr/>
          <p:nvPr/>
        </p:nvSpPr>
        <p:spPr>
          <a:xfrm>
            <a:off x="3977640" y="2935224"/>
            <a:ext cx="1325880" cy="438912"/>
          </a:xfrm>
          <a:prstGeom prst="rect">
            <a:avLst/>
          </a:prstGeom>
          <a:solidFill>
            <a:srgbClr val="F7F9FC"/>
          </a:solidFill>
          <a:ln w="5080">
            <a:solidFill>
              <a:srgbClr val="E2E8F0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3977640" y="2935224"/>
            <a:ext cx="13258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93.0%</a:t>
            </a:r>
            <a:endParaRPr lang="en-US" sz="1200" dirty="0"/>
          </a:p>
        </p:txBody>
      </p:sp>
      <p:sp>
        <p:nvSpPr>
          <p:cNvPr id="61" name="Shape 59"/>
          <p:cNvSpPr/>
          <p:nvPr/>
        </p:nvSpPr>
        <p:spPr>
          <a:xfrm>
            <a:off x="5303520" y="2935224"/>
            <a:ext cx="1234440" cy="438912"/>
          </a:xfrm>
          <a:prstGeom prst="rect">
            <a:avLst/>
          </a:prstGeom>
          <a:solidFill>
            <a:srgbClr val="F7F9FC"/>
          </a:solidFill>
          <a:ln w="5080">
            <a:solidFill>
              <a:srgbClr val="E2E8F0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5303520" y="2935224"/>
            <a:ext cx="12344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90.3%</a:t>
            </a:r>
            <a:endParaRPr lang="en-US" sz="1200" dirty="0"/>
          </a:p>
        </p:txBody>
      </p:sp>
      <p:sp>
        <p:nvSpPr>
          <p:cNvPr id="63" name="Shape 61"/>
          <p:cNvSpPr/>
          <p:nvPr/>
        </p:nvSpPr>
        <p:spPr>
          <a:xfrm>
            <a:off x="6537960" y="2935224"/>
            <a:ext cx="1234440" cy="438912"/>
          </a:xfrm>
          <a:prstGeom prst="rect">
            <a:avLst/>
          </a:prstGeom>
          <a:solidFill>
            <a:srgbClr val="F7F9FC"/>
          </a:solidFill>
          <a:ln w="5080">
            <a:solidFill>
              <a:srgbClr val="E2E8F0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6537960" y="2935224"/>
            <a:ext cx="12344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89.7%</a:t>
            </a:r>
            <a:endParaRPr lang="en-US" sz="1200" dirty="0"/>
          </a:p>
        </p:txBody>
      </p:sp>
      <p:sp>
        <p:nvSpPr>
          <p:cNvPr id="65" name="Shape 63"/>
          <p:cNvSpPr/>
          <p:nvPr/>
        </p:nvSpPr>
        <p:spPr>
          <a:xfrm>
            <a:off x="7772400" y="2935224"/>
            <a:ext cx="1280160" cy="438912"/>
          </a:xfrm>
          <a:prstGeom prst="rect">
            <a:avLst/>
          </a:prstGeom>
          <a:solidFill>
            <a:srgbClr val="F7F9FC"/>
          </a:solidFill>
          <a:ln w="5080">
            <a:solidFill>
              <a:srgbClr val="E2E8F0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7772400" y="2935224"/>
            <a:ext cx="12801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90.9%</a:t>
            </a:r>
            <a:endParaRPr lang="en-US" sz="1200" dirty="0"/>
          </a:p>
        </p:txBody>
      </p:sp>
      <p:sp>
        <p:nvSpPr>
          <p:cNvPr id="67" name="Shape 65"/>
          <p:cNvSpPr/>
          <p:nvPr/>
        </p:nvSpPr>
        <p:spPr>
          <a:xfrm>
            <a:off x="274320" y="3291840"/>
            <a:ext cx="8595360" cy="749808"/>
          </a:xfrm>
          <a:prstGeom prst="rect">
            <a:avLst/>
          </a:prstGeom>
          <a:solidFill>
            <a:srgbClr val="E8FAF4"/>
          </a:solidFill>
          <a:ln w="10160">
            <a:solidFill>
              <a:srgbClr val="02C39A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384048" y="3392424"/>
            <a:ext cx="475488" cy="475488"/>
          </a:xfrm>
          <a:prstGeom prst="ellipse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384048" y="3392424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70" name="Text 68"/>
          <p:cNvSpPr/>
          <p:nvPr/>
        </p:nvSpPr>
        <p:spPr>
          <a:xfrm>
            <a:off x="960120" y="3310128"/>
            <a:ext cx="77724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809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Best Model: SVM (RBF kernel)  ·  97.4% AUC  ·  94% Precision  ·  94% Recall</a:t>
            </a:r>
            <a:endParaRPr lang="en-US" sz="1400" dirty="0"/>
          </a:p>
        </p:txBody>
      </p:sp>
      <p:sp>
        <p:nvSpPr>
          <p:cNvPr id="71" name="Text 69"/>
          <p:cNvSpPr/>
          <p:nvPr/>
        </p:nvSpPr>
        <p:spPr>
          <a:xfrm>
            <a:off x="960120" y="3703320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Outperforms industry benchmark (85% AUC) by 12.4 percentage points</a:t>
            </a:r>
            <a:endParaRPr lang="en-US" sz="1100" dirty="0"/>
          </a:p>
        </p:txBody>
      </p:sp>
      <p:sp>
        <p:nvSpPr>
          <p:cNvPr id="72" name="Shape 70"/>
          <p:cNvSpPr/>
          <p:nvPr/>
        </p:nvSpPr>
        <p:spPr>
          <a:xfrm>
            <a:off x="274320" y="4169664"/>
            <a:ext cx="8595360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438912" y="4206240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Thresholds:</a:t>
            </a:r>
            <a:endParaRPr lang="en-US" sz="1100" dirty="0"/>
          </a:p>
        </p:txBody>
      </p:sp>
      <p:sp>
        <p:nvSpPr>
          <p:cNvPr id="74" name="Text 72"/>
          <p:cNvSpPr/>
          <p:nvPr/>
        </p:nvSpPr>
        <p:spPr>
          <a:xfrm>
            <a:off x="2331720" y="4206240"/>
            <a:ext cx="2103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D9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≥ 65%  →  ✅ Approved</a:t>
            </a:r>
            <a:endParaRPr lang="en-US" sz="1100" dirty="0"/>
          </a:p>
        </p:txBody>
      </p:sp>
      <p:sp>
        <p:nvSpPr>
          <p:cNvPr id="75" name="Text 73"/>
          <p:cNvSpPr/>
          <p:nvPr/>
        </p:nvSpPr>
        <p:spPr>
          <a:xfrm>
            <a:off x="4507992" y="4206240"/>
            <a:ext cx="2103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45–64%  →  ⏸ Manual Review</a:t>
            </a:r>
            <a:endParaRPr lang="en-US" sz="1100" dirty="0"/>
          </a:p>
        </p:txBody>
      </p:sp>
      <p:sp>
        <p:nvSpPr>
          <p:cNvPr id="76" name="Text 74"/>
          <p:cNvSpPr/>
          <p:nvPr/>
        </p:nvSpPr>
        <p:spPr>
          <a:xfrm>
            <a:off x="6684264" y="4206240"/>
            <a:ext cx="2103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050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45%  →  ❌ Rejected</a:t>
            </a:r>
            <a:endParaRPr lang="en-US" sz="1100" dirty="0"/>
          </a:p>
        </p:txBody>
      </p:sp>
      <p:sp>
        <p:nvSpPr>
          <p:cNvPr id="77" name="Text 75"/>
          <p:cNvSpPr/>
          <p:nvPr/>
        </p:nvSpPr>
        <p:spPr>
          <a:xfrm>
            <a:off x="365760" y="4892040"/>
            <a:ext cx="84124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Copyright (c) 2026 Mandeep Sharma  ·  NexaVault Financial Corp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005840"/>
            <a:ext cx="9144000" cy="54864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164592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Applicant Profile &amp; Credit Scoring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411480" y="658368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Comprehensive 25-field applicant assessment — Experian credit model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74320" y="1234440"/>
            <a:ext cx="1664208" cy="475488"/>
          </a:xfrm>
          <a:prstGeom prst="rect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1234440"/>
            <a:ext cx="166420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Exceptional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274320" y="1481328"/>
            <a:ext cx="166420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800–850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1954987" y="1234440"/>
            <a:ext cx="1508760" cy="47548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954987" y="1234440"/>
            <a:ext cx="1508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Very Good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1954987" y="1481328"/>
            <a:ext cx="1508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740–799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480206" y="1234440"/>
            <a:ext cx="1417320" cy="475488"/>
          </a:xfrm>
          <a:prstGeom prst="rect">
            <a:avLst/>
          </a:prstGeom>
          <a:solidFill>
            <a:srgbClr val="378ADD"/>
          </a:solidFill>
          <a:ln w="12700">
            <a:solidFill>
              <a:srgbClr val="378AD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480206" y="1234440"/>
            <a:ext cx="1417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3480206" y="1481328"/>
            <a:ext cx="1417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670–739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4913986" y="1234440"/>
            <a:ext cx="1353312" cy="475488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913986" y="1234440"/>
            <a:ext cx="13533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Fair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4913986" y="1481328"/>
            <a:ext cx="135331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580–669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6283757" y="1234440"/>
            <a:ext cx="1143000" cy="475488"/>
          </a:xfrm>
          <a:prstGeom prst="rect">
            <a:avLst/>
          </a:prstGeom>
          <a:solidFill>
            <a:srgbClr val="C0602F"/>
          </a:solidFill>
          <a:ln w="12700">
            <a:solidFill>
              <a:srgbClr val="C0602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283757" y="1234440"/>
            <a:ext cx="1143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Poor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6283757" y="1481328"/>
            <a:ext cx="1143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500–579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7443216" y="1234440"/>
            <a:ext cx="914400" cy="475488"/>
          </a:xfrm>
          <a:prstGeom prst="rect">
            <a:avLst/>
          </a:prstGeom>
          <a:solidFill>
            <a:srgbClr val="E05050"/>
          </a:solidFill>
          <a:ln w="12700">
            <a:solidFill>
              <a:srgbClr val="E0505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443216" y="123444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Very Poor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7443216" y="1481328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300–499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274320" y="1901952"/>
            <a:ext cx="2057400" cy="26517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274320" y="1901952"/>
            <a:ext cx="2057400" cy="36576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5760" y="1901952"/>
            <a:ext cx="1874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Personal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438912" y="2368296"/>
            <a:ext cx="91440" cy="9144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76072" y="2331720"/>
            <a:ext cx="166420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Gender identity (7 options)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38912" y="2770632"/>
            <a:ext cx="91440" cy="9144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76072" y="2734056"/>
            <a:ext cx="166420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Marital status (6 types)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438912" y="3172968"/>
            <a:ext cx="91440" cy="9144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76072" y="3136392"/>
            <a:ext cx="166420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Dependents count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438912" y="3575304"/>
            <a:ext cx="91440" cy="9144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76072" y="3538728"/>
            <a:ext cx="166420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Education level (8 tiers)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438912" y="3977640"/>
            <a:ext cx="91440" cy="9144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76072" y="3941064"/>
            <a:ext cx="166420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Citizenship / residency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2450592" y="1901952"/>
            <a:ext cx="2057400" cy="26517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2450592" y="1901952"/>
            <a:ext cx="2057400" cy="36576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2542032" y="1901952"/>
            <a:ext cx="1874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Employment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2615184" y="2368296"/>
            <a:ext cx="91440" cy="9144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2752344" y="2331720"/>
            <a:ext cx="166420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employment categories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2615184" y="2770632"/>
            <a:ext cx="91440" cy="9144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2752344" y="2734056"/>
            <a:ext cx="166420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W-2 / contractor / freelancer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2615184" y="3172968"/>
            <a:ext cx="91440" cy="9144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2752344" y="3136392"/>
            <a:ext cx="166420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 tenure (6 bands)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2615184" y="3575304"/>
            <a:ext cx="91440" cy="9144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2752344" y="3538728"/>
            <a:ext cx="166420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Industry sector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2615184" y="3977640"/>
            <a:ext cx="91440" cy="9144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2752344" y="3941064"/>
            <a:ext cx="166420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ownership type</a:t>
            </a:r>
            <a:endParaRPr lang="en-US" sz="1000" dirty="0"/>
          </a:p>
        </p:txBody>
      </p:sp>
      <p:sp>
        <p:nvSpPr>
          <p:cNvPr id="50" name="Shape 48"/>
          <p:cNvSpPr/>
          <p:nvPr/>
        </p:nvSpPr>
        <p:spPr>
          <a:xfrm>
            <a:off x="4626864" y="1901952"/>
            <a:ext cx="2057400" cy="26517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1" name="Shape 49"/>
          <p:cNvSpPr/>
          <p:nvPr/>
        </p:nvSpPr>
        <p:spPr>
          <a:xfrm>
            <a:off x="4626864" y="1901952"/>
            <a:ext cx="2057400" cy="36576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4718304" y="1901952"/>
            <a:ext cx="1874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Income</a:t>
            </a:r>
            <a:endParaRPr lang="en-US" sz="1200" dirty="0"/>
          </a:p>
        </p:txBody>
      </p:sp>
      <p:sp>
        <p:nvSpPr>
          <p:cNvPr id="53" name="Shape 51"/>
          <p:cNvSpPr/>
          <p:nvPr/>
        </p:nvSpPr>
        <p:spPr>
          <a:xfrm>
            <a:off x="4791456" y="2368296"/>
            <a:ext cx="91440" cy="9144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4928616" y="2331720"/>
            <a:ext cx="166420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Applicant annual income</a:t>
            </a:r>
            <a:endParaRPr lang="en-US" sz="1000" dirty="0"/>
          </a:p>
        </p:txBody>
      </p:sp>
      <p:sp>
        <p:nvSpPr>
          <p:cNvPr id="55" name="Shape 53"/>
          <p:cNvSpPr/>
          <p:nvPr/>
        </p:nvSpPr>
        <p:spPr>
          <a:xfrm>
            <a:off x="4791456" y="2770632"/>
            <a:ext cx="91440" cy="9144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4928616" y="2734056"/>
            <a:ext cx="166420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Co-applicant income</a:t>
            </a:r>
            <a:endParaRPr lang="en-US" sz="1000" dirty="0"/>
          </a:p>
        </p:txBody>
      </p:sp>
      <p:sp>
        <p:nvSpPr>
          <p:cNvPr id="57" name="Shape 55"/>
          <p:cNvSpPr/>
          <p:nvPr/>
        </p:nvSpPr>
        <p:spPr>
          <a:xfrm>
            <a:off x="4791456" y="3172968"/>
            <a:ext cx="91440" cy="9144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4928616" y="3136392"/>
            <a:ext cx="166420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Other income sources</a:t>
            </a:r>
            <a:endParaRPr lang="en-US" sz="1000" dirty="0"/>
          </a:p>
        </p:txBody>
      </p:sp>
      <p:sp>
        <p:nvSpPr>
          <p:cNvPr id="59" name="Shape 57"/>
          <p:cNvSpPr/>
          <p:nvPr/>
        </p:nvSpPr>
        <p:spPr>
          <a:xfrm>
            <a:off x="4791456" y="3575304"/>
            <a:ext cx="91440" cy="9144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4928616" y="3538728"/>
            <a:ext cx="166420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debt obligations</a:t>
            </a:r>
            <a:endParaRPr lang="en-US" sz="1000" dirty="0"/>
          </a:p>
        </p:txBody>
      </p:sp>
      <p:sp>
        <p:nvSpPr>
          <p:cNvPr id="61" name="Shape 59"/>
          <p:cNvSpPr/>
          <p:nvPr/>
        </p:nvSpPr>
        <p:spPr>
          <a:xfrm>
            <a:off x="4791456" y="3977640"/>
            <a:ext cx="91440" cy="9144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4928616" y="3941064"/>
            <a:ext cx="166420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Non-linear income bands</a:t>
            </a:r>
            <a:endParaRPr lang="en-US" sz="1000" dirty="0"/>
          </a:p>
        </p:txBody>
      </p:sp>
      <p:sp>
        <p:nvSpPr>
          <p:cNvPr id="63" name="Shape 61"/>
          <p:cNvSpPr/>
          <p:nvPr/>
        </p:nvSpPr>
        <p:spPr>
          <a:xfrm>
            <a:off x="6803136" y="1901952"/>
            <a:ext cx="2057400" cy="26517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4" name="Shape 62"/>
          <p:cNvSpPr/>
          <p:nvPr/>
        </p:nvSpPr>
        <p:spPr>
          <a:xfrm>
            <a:off x="6803136" y="1901952"/>
            <a:ext cx="2057400" cy="36576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6894576" y="1901952"/>
            <a:ext cx="1874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Loan</a:t>
            </a:r>
            <a:endParaRPr lang="en-US" sz="1200" dirty="0"/>
          </a:p>
        </p:txBody>
      </p:sp>
      <p:sp>
        <p:nvSpPr>
          <p:cNvPr id="66" name="Shape 64"/>
          <p:cNvSpPr/>
          <p:nvPr/>
        </p:nvSpPr>
        <p:spPr>
          <a:xfrm>
            <a:off x="6967728" y="2368296"/>
            <a:ext cx="91440" cy="9144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7104888" y="2331720"/>
            <a:ext cx="166420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loan types</a:t>
            </a:r>
            <a:endParaRPr lang="en-US" sz="1000" dirty="0"/>
          </a:p>
        </p:txBody>
      </p:sp>
      <p:sp>
        <p:nvSpPr>
          <p:cNvPr id="68" name="Shape 66"/>
          <p:cNvSpPr/>
          <p:nvPr/>
        </p:nvSpPr>
        <p:spPr>
          <a:xfrm>
            <a:off x="6967728" y="2770632"/>
            <a:ext cx="91440" cy="9144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7104888" y="2734056"/>
            <a:ext cx="166420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Loan purpose (8 options)</a:t>
            </a:r>
            <a:endParaRPr lang="en-US" sz="1000" dirty="0"/>
          </a:p>
        </p:txBody>
      </p:sp>
      <p:sp>
        <p:nvSpPr>
          <p:cNvPr id="70" name="Shape 68"/>
          <p:cNvSpPr/>
          <p:nvPr/>
        </p:nvSpPr>
        <p:spPr>
          <a:xfrm>
            <a:off x="6967728" y="3172968"/>
            <a:ext cx="91440" cy="9144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7104888" y="3136392"/>
            <a:ext cx="166420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Loan amount ($K)</a:t>
            </a:r>
            <a:endParaRPr lang="en-US" sz="1000" dirty="0"/>
          </a:p>
        </p:txBody>
      </p:sp>
      <p:sp>
        <p:nvSpPr>
          <p:cNvPr id="72" name="Shape 70"/>
          <p:cNvSpPr/>
          <p:nvPr/>
        </p:nvSpPr>
        <p:spPr>
          <a:xfrm>
            <a:off x="6967728" y="3575304"/>
            <a:ext cx="91440" cy="9144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7104888" y="3538728"/>
            <a:ext cx="166420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Term: 5–40 years</a:t>
            </a:r>
            <a:endParaRPr lang="en-US" sz="1000" dirty="0"/>
          </a:p>
        </p:txBody>
      </p:sp>
      <p:sp>
        <p:nvSpPr>
          <p:cNvPr id="74" name="Shape 72"/>
          <p:cNvSpPr/>
          <p:nvPr/>
        </p:nvSpPr>
        <p:spPr>
          <a:xfrm>
            <a:off x="6967728" y="3977640"/>
            <a:ext cx="91440" cy="9144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7104888" y="3941064"/>
            <a:ext cx="166420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 payment % + collateral</a:t>
            </a:r>
            <a:endParaRPr lang="en-US" sz="1000" dirty="0"/>
          </a:p>
        </p:txBody>
      </p:sp>
      <p:sp>
        <p:nvSpPr>
          <p:cNvPr id="76" name="Text 74"/>
          <p:cNvSpPr/>
          <p:nvPr/>
        </p:nvSpPr>
        <p:spPr>
          <a:xfrm>
            <a:off x="365760" y="4892040"/>
            <a:ext cx="84124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Copyright (c) 2026 Mandeep Sharma  ·  NexaVault Financial Corp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D1F36"/>
          </a:solidFill>
          <a:ln w="12700">
            <a:solidFill>
              <a:srgbClr val="0D1F3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005840"/>
            <a:ext cx="9144000" cy="54864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164592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API &amp; System Architecture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411480" y="658368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Flask REST API · Docker · Multi-tier deployment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11480" y="1261872"/>
            <a:ext cx="1508760" cy="1325880"/>
          </a:xfrm>
          <a:prstGeom prst="rect">
            <a:avLst/>
          </a:prstGeom>
          <a:solidFill>
            <a:srgbClr val="0D224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11480" y="1261872"/>
            <a:ext cx="1508760" cy="7315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11480" y="1371600"/>
            <a:ext cx="1508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Client</a:t>
            </a:r>
            <a:endParaRPr lang="en-US" sz="12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Request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11480" y="1920240"/>
            <a:ext cx="15087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/ Mobile</a:t>
            </a:r>
            <a:endParaRPr lang="en-US" sz="95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 Branch System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1920240" y="1924812"/>
            <a:ext cx="173736" cy="0"/>
          </a:xfrm>
          <a:prstGeom prst="line">
            <a:avLst/>
          </a:prstGeom>
          <a:noFill/>
          <a:ln w="19050">
            <a:solidFill>
              <a:srgbClr val="02809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911096" y="1810512"/>
            <a:ext cx="19202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2093976" y="1261872"/>
            <a:ext cx="1508760" cy="1325880"/>
          </a:xfrm>
          <a:prstGeom prst="rect">
            <a:avLst/>
          </a:prstGeom>
          <a:solidFill>
            <a:srgbClr val="0D2240"/>
          </a:solidFill>
          <a:ln w="12700">
            <a:solidFill>
              <a:srgbClr val="1779B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093976" y="1261872"/>
            <a:ext cx="1508760" cy="73152"/>
          </a:xfrm>
          <a:prstGeom prst="rect">
            <a:avLst/>
          </a:prstGeom>
          <a:solidFill>
            <a:srgbClr val="1779BA"/>
          </a:solidFill>
          <a:ln w="12700">
            <a:solidFill>
              <a:srgbClr val="1779B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093976" y="1371600"/>
            <a:ext cx="1508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Nginx</a:t>
            </a:r>
            <a:endParaRPr lang="en-US" sz="12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Reverse Proxy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2093976" y="1920240"/>
            <a:ext cx="15087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SSL / Rate</a:t>
            </a:r>
            <a:endParaRPr lang="en-US" sz="95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Limiting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3602736" y="1924812"/>
            <a:ext cx="173736" cy="0"/>
          </a:xfrm>
          <a:prstGeom prst="line">
            <a:avLst/>
          </a:prstGeom>
          <a:noFill/>
          <a:ln w="19050">
            <a:solidFill>
              <a:srgbClr val="1779B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593592" y="1810512"/>
            <a:ext cx="19202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779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776472" y="1261872"/>
            <a:ext cx="1508760" cy="1325880"/>
          </a:xfrm>
          <a:prstGeom prst="rect">
            <a:avLst/>
          </a:prstGeom>
          <a:solidFill>
            <a:srgbClr val="0D2240"/>
          </a:solidFill>
          <a:ln w="12700">
            <a:solidFill>
              <a:srgbClr val="7B5EA7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776472" y="1261872"/>
            <a:ext cx="1508760" cy="73152"/>
          </a:xfrm>
          <a:prstGeom prst="rect">
            <a:avLst/>
          </a:prstGeom>
          <a:solidFill>
            <a:srgbClr val="7B5EA7"/>
          </a:solidFill>
          <a:ln w="12700">
            <a:solidFill>
              <a:srgbClr val="7B5EA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776472" y="1371600"/>
            <a:ext cx="1508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Flask</a:t>
            </a:r>
            <a:endParaRPr lang="en-US" sz="12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REST API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3776472" y="1920240"/>
            <a:ext cx="15087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 /predict</a:t>
            </a:r>
            <a:endParaRPr lang="en-US" sz="95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 /batch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5285232" y="1924812"/>
            <a:ext cx="173736" cy="0"/>
          </a:xfrm>
          <a:prstGeom prst="line">
            <a:avLst/>
          </a:prstGeom>
          <a:noFill/>
          <a:ln w="19050">
            <a:solidFill>
              <a:srgbClr val="7B5EA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276088" y="1810512"/>
            <a:ext cx="19202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B5E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5458968" y="1261872"/>
            <a:ext cx="1508760" cy="1325880"/>
          </a:xfrm>
          <a:prstGeom prst="rect">
            <a:avLst/>
          </a:prstGeom>
          <a:solidFill>
            <a:srgbClr val="0D2240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458968" y="1261872"/>
            <a:ext cx="1508760" cy="73152"/>
          </a:xfrm>
          <a:prstGeom prst="rect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458968" y="1371600"/>
            <a:ext cx="1508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ML Pipeline</a:t>
            </a:r>
            <a:endParaRPr lang="en-US" sz="12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(sklearn)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5458968" y="1920240"/>
            <a:ext cx="15087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Eng.</a:t>
            </a:r>
            <a:endParaRPr lang="en-US" sz="95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Model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6967728" y="1924812"/>
            <a:ext cx="173736" cy="0"/>
          </a:xfrm>
          <a:prstGeom prst="line">
            <a:avLst/>
          </a:prstGeom>
          <a:noFill/>
          <a:ln w="19050">
            <a:solidFill>
              <a:srgbClr val="1D9E75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958584" y="1810512"/>
            <a:ext cx="19202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D9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7141464" y="1261872"/>
            <a:ext cx="1508760" cy="1325880"/>
          </a:xfrm>
          <a:prstGeom prst="rect">
            <a:avLst/>
          </a:prstGeom>
          <a:solidFill>
            <a:srgbClr val="0D2240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7141464" y="1261872"/>
            <a:ext cx="1508760" cy="73152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141464" y="1371600"/>
            <a:ext cx="1508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Model</a:t>
            </a:r>
            <a:endParaRPr lang="en-US" sz="12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Artifact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7141464" y="1920240"/>
            <a:ext cx="15087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nexavault_</a:t>
            </a:r>
            <a:endParaRPr lang="en-US" sz="95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model.pkl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411480" y="2834640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REST API Endpoints</a:t>
            </a:r>
            <a:endParaRPr lang="en-US" sz="1400" dirty="0"/>
          </a:p>
        </p:txBody>
      </p:sp>
      <p:sp>
        <p:nvSpPr>
          <p:cNvPr id="35" name="Shape 33"/>
          <p:cNvSpPr/>
          <p:nvPr/>
        </p:nvSpPr>
        <p:spPr>
          <a:xfrm>
            <a:off x="411480" y="3200400"/>
            <a:ext cx="4069080" cy="438912"/>
          </a:xfrm>
          <a:prstGeom prst="rect">
            <a:avLst/>
          </a:prstGeom>
          <a:solidFill>
            <a:srgbClr val="0D2240"/>
          </a:solidFill>
          <a:ln w="5080">
            <a:solidFill>
              <a:srgbClr val="1A3A5C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411480" y="3200400"/>
            <a:ext cx="658368" cy="438912"/>
          </a:xfrm>
          <a:prstGeom prst="rect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11480" y="3200400"/>
            <a:ext cx="65836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1124712" y="3200400"/>
            <a:ext cx="12344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/health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2423160" y="3200400"/>
            <a:ext cx="199339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health + model status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4709160" y="3200400"/>
            <a:ext cx="4069080" cy="438912"/>
          </a:xfrm>
          <a:prstGeom prst="rect">
            <a:avLst/>
          </a:prstGeom>
          <a:solidFill>
            <a:srgbClr val="0D2240"/>
          </a:solidFill>
          <a:ln w="5080">
            <a:solidFill>
              <a:srgbClr val="1A3A5C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4709160" y="3200400"/>
            <a:ext cx="658368" cy="43891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709160" y="3200400"/>
            <a:ext cx="65836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5422392" y="3200400"/>
            <a:ext cx="12344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/predict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6720840" y="3200400"/>
            <a:ext cx="199339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applicant — instant decision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411480" y="3712464"/>
            <a:ext cx="4069080" cy="438912"/>
          </a:xfrm>
          <a:prstGeom prst="rect">
            <a:avLst/>
          </a:prstGeom>
          <a:solidFill>
            <a:srgbClr val="0D2240"/>
          </a:solidFill>
          <a:ln w="5080">
            <a:solidFill>
              <a:srgbClr val="1A3A5C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411480" y="3712464"/>
            <a:ext cx="658368" cy="438912"/>
          </a:xfrm>
          <a:prstGeom prst="rect">
            <a:avLst/>
          </a:prstGeom>
          <a:solidFill>
            <a:srgbClr val="7B5EA7"/>
          </a:solidFill>
          <a:ln w="12700">
            <a:solidFill>
              <a:srgbClr val="7B5EA7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411480" y="3712464"/>
            <a:ext cx="65836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1124712" y="3712464"/>
            <a:ext cx="12344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/predict/batch</a:t>
            </a:r>
            <a:endParaRPr lang="en-US" sz="1100" dirty="0"/>
          </a:p>
        </p:txBody>
      </p:sp>
      <p:sp>
        <p:nvSpPr>
          <p:cNvPr id="49" name="Text 47"/>
          <p:cNvSpPr/>
          <p:nvPr/>
        </p:nvSpPr>
        <p:spPr>
          <a:xfrm>
            <a:off x="2423160" y="3712464"/>
            <a:ext cx="199339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CSV batch — thousands of applications</a:t>
            </a:r>
            <a:endParaRPr lang="en-US" sz="1000" dirty="0"/>
          </a:p>
        </p:txBody>
      </p:sp>
      <p:sp>
        <p:nvSpPr>
          <p:cNvPr id="50" name="Shape 48"/>
          <p:cNvSpPr/>
          <p:nvPr/>
        </p:nvSpPr>
        <p:spPr>
          <a:xfrm>
            <a:off x="4709160" y="3712464"/>
            <a:ext cx="4069080" cy="438912"/>
          </a:xfrm>
          <a:prstGeom prst="rect">
            <a:avLst/>
          </a:prstGeom>
          <a:solidFill>
            <a:srgbClr val="0D2240"/>
          </a:solidFill>
          <a:ln w="5080">
            <a:solidFill>
              <a:srgbClr val="1A3A5C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4709160" y="3712464"/>
            <a:ext cx="658368" cy="438912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4709160" y="3712464"/>
            <a:ext cx="65836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</a:t>
            </a:r>
            <a:endParaRPr lang="en-US" sz="1000" dirty="0"/>
          </a:p>
        </p:txBody>
      </p:sp>
      <p:sp>
        <p:nvSpPr>
          <p:cNvPr id="53" name="Text 51"/>
          <p:cNvSpPr/>
          <p:nvPr/>
        </p:nvSpPr>
        <p:spPr>
          <a:xfrm>
            <a:off x="5422392" y="3712464"/>
            <a:ext cx="12344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/model/info</a:t>
            </a:r>
            <a:endParaRPr lang="en-US" sz="1100" dirty="0"/>
          </a:p>
        </p:txBody>
      </p:sp>
      <p:sp>
        <p:nvSpPr>
          <p:cNvPr id="54" name="Text 52"/>
          <p:cNvSpPr/>
          <p:nvPr/>
        </p:nvSpPr>
        <p:spPr>
          <a:xfrm>
            <a:off x="6720840" y="3712464"/>
            <a:ext cx="199339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type, version, feature list</a:t>
            </a:r>
            <a:endParaRPr lang="en-US" sz="1000" dirty="0"/>
          </a:p>
        </p:txBody>
      </p:sp>
      <p:sp>
        <p:nvSpPr>
          <p:cNvPr id="55" name="Text 53"/>
          <p:cNvSpPr/>
          <p:nvPr/>
        </p:nvSpPr>
        <p:spPr>
          <a:xfrm>
            <a:off x="365760" y="4892040"/>
            <a:ext cx="84124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304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Copyright (c) 2026 Mandeep Sharma  ·  NexaVault Financial Corp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005840"/>
            <a:ext cx="9144000" cy="54864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164592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Deployment Strategy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411480" y="658368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Three-phase rollout from demo to enterprise production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92608" y="1234440"/>
            <a:ext cx="2788920" cy="34747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92608" y="1234440"/>
            <a:ext cx="2788920" cy="65836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02336" y="1261872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02336" y="1508760"/>
            <a:ext cx="25603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Demo &amp; Staging</a:t>
            </a:r>
            <a:endParaRPr lang="en-US" sz="1450" dirty="0"/>
          </a:p>
        </p:txBody>
      </p:sp>
      <p:sp>
        <p:nvSpPr>
          <p:cNvPr id="10" name="Shape 8"/>
          <p:cNvSpPr/>
          <p:nvPr/>
        </p:nvSpPr>
        <p:spPr>
          <a:xfrm>
            <a:off x="402336" y="1993392"/>
            <a:ext cx="1645920" cy="256032"/>
          </a:xfrm>
          <a:prstGeom prst="rect">
            <a:avLst/>
          </a:prstGeom>
          <a:solidFill>
            <a:srgbClr val="F0F4F8"/>
          </a:solidFill>
          <a:ln w="5080">
            <a:solidFill>
              <a:srgbClr val="E2E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02336" y="1993392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Timeline: Week 1–2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475488" y="2386584"/>
            <a:ext cx="100584" cy="100584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21792" y="2350008"/>
            <a:ext cx="2377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Flask development server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475488" y="2807208"/>
            <a:ext cx="100584" cy="100584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21792" y="2770632"/>
            <a:ext cx="2377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container (single node)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75488" y="3227832"/>
            <a:ext cx="100584" cy="100584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21792" y="3191256"/>
            <a:ext cx="2377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Postman / curl API testing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475488" y="3648456"/>
            <a:ext cx="100584" cy="100584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21792" y="3611880"/>
            <a:ext cx="2377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Jupyter notebook demo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75488" y="4069080"/>
            <a:ext cx="100584" cy="100584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21792" y="4032504"/>
            <a:ext cx="2377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validation &amp; smoke tests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3264408" y="1234440"/>
            <a:ext cx="2788920" cy="34747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3264408" y="1234440"/>
            <a:ext cx="2788920" cy="658368"/>
          </a:xfrm>
          <a:prstGeom prst="rect">
            <a:avLst/>
          </a:prstGeom>
          <a:solidFill>
            <a:srgbClr val="7B5EA7"/>
          </a:solidFill>
          <a:ln w="12700">
            <a:solidFill>
              <a:srgbClr val="7B5EA7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374136" y="1261872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3374136" y="1508760"/>
            <a:ext cx="25603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Cloud Production</a:t>
            </a:r>
            <a:endParaRPr lang="en-US" sz="1450" dirty="0"/>
          </a:p>
        </p:txBody>
      </p:sp>
      <p:sp>
        <p:nvSpPr>
          <p:cNvPr id="26" name="Shape 24"/>
          <p:cNvSpPr/>
          <p:nvPr/>
        </p:nvSpPr>
        <p:spPr>
          <a:xfrm>
            <a:off x="3374136" y="1993392"/>
            <a:ext cx="1645920" cy="256032"/>
          </a:xfrm>
          <a:prstGeom prst="rect">
            <a:avLst/>
          </a:prstGeom>
          <a:solidFill>
            <a:srgbClr val="F0F4F8"/>
          </a:solidFill>
          <a:ln w="508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374136" y="1993392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Timeline: Week 3–4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3447288" y="2386584"/>
            <a:ext cx="100584" cy="100584"/>
          </a:xfrm>
          <a:prstGeom prst="ellipse">
            <a:avLst/>
          </a:prstGeom>
          <a:solidFill>
            <a:srgbClr val="7B5EA7"/>
          </a:solidFill>
          <a:ln w="12700">
            <a:solidFill>
              <a:srgbClr val="7B5EA7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593592" y="2350008"/>
            <a:ext cx="2377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EC2 (t3.medium) or Render.com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3447288" y="2807208"/>
            <a:ext cx="100584" cy="100584"/>
          </a:xfrm>
          <a:prstGeom prst="ellipse">
            <a:avLst/>
          </a:prstGeom>
          <a:solidFill>
            <a:srgbClr val="7B5EA7"/>
          </a:solidFill>
          <a:ln w="12700">
            <a:solidFill>
              <a:srgbClr val="7B5EA7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593592" y="2770632"/>
            <a:ext cx="2377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Compose + Nginx reverse proxy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3447288" y="3227832"/>
            <a:ext cx="100584" cy="100584"/>
          </a:xfrm>
          <a:prstGeom prst="ellipse">
            <a:avLst/>
          </a:prstGeom>
          <a:solidFill>
            <a:srgbClr val="7B5EA7"/>
          </a:solidFill>
          <a:ln w="12700">
            <a:solidFill>
              <a:srgbClr val="7B5EA7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593592" y="3191256"/>
            <a:ext cx="2377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HTTPS / SSL via Let's Encrypt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3447288" y="3648456"/>
            <a:ext cx="100584" cy="100584"/>
          </a:xfrm>
          <a:prstGeom prst="ellipse">
            <a:avLst/>
          </a:prstGeom>
          <a:solidFill>
            <a:srgbClr val="7B5EA7"/>
          </a:solidFill>
          <a:ln w="12700">
            <a:solidFill>
              <a:srgbClr val="7B5EA7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593592" y="3611880"/>
            <a:ext cx="2377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Actions CI/CD pipeline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3447288" y="4069080"/>
            <a:ext cx="100584" cy="100584"/>
          </a:xfrm>
          <a:prstGeom prst="ellipse">
            <a:avLst/>
          </a:prstGeom>
          <a:solidFill>
            <a:srgbClr val="7B5EA7"/>
          </a:solidFill>
          <a:ln w="12700">
            <a:solidFill>
              <a:srgbClr val="7B5EA7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593592" y="4032504"/>
            <a:ext cx="2377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logging (JSON → CloudWatch)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6236208" y="1234440"/>
            <a:ext cx="2788920" cy="34747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9" name="Shape 37"/>
          <p:cNvSpPr/>
          <p:nvPr/>
        </p:nvSpPr>
        <p:spPr>
          <a:xfrm>
            <a:off x="6236208" y="1234440"/>
            <a:ext cx="2788920" cy="658368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345936" y="1261872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6345936" y="1508760"/>
            <a:ext cx="25603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Enterprise Scale</a:t>
            </a:r>
            <a:endParaRPr lang="en-US" sz="1450" dirty="0"/>
          </a:p>
        </p:txBody>
      </p:sp>
      <p:sp>
        <p:nvSpPr>
          <p:cNvPr id="42" name="Shape 40"/>
          <p:cNvSpPr/>
          <p:nvPr/>
        </p:nvSpPr>
        <p:spPr>
          <a:xfrm>
            <a:off x="6345936" y="1993392"/>
            <a:ext cx="1645920" cy="256032"/>
          </a:xfrm>
          <a:prstGeom prst="rect">
            <a:avLst/>
          </a:prstGeom>
          <a:solidFill>
            <a:srgbClr val="F0F4F8"/>
          </a:solidFill>
          <a:ln w="5080">
            <a:solidFill>
              <a:srgbClr val="E2E8F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345936" y="1993392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Timeline: Month 2+</a:t>
            </a:r>
            <a:endParaRPr lang="en-US" sz="950" dirty="0"/>
          </a:p>
        </p:txBody>
      </p:sp>
      <p:sp>
        <p:nvSpPr>
          <p:cNvPr id="44" name="Shape 42"/>
          <p:cNvSpPr/>
          <p:nvPr/>
        </p:nvSpPr>
        <p:spPr>
          <a:xfrm>
            <a:off x="6419088" y="2386584"/>
            <a:ext cx="100584" cy="100584"/>
          </a:xfrm>
          <a:prstGeom prst="ellipse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565392" y="2350008"/>
            <a:ext cx="2377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ECS Fargate (auto-scaling)</a:t>
            </a:r>
            <a:endParaRPr lang="en-US" sz="1050" dirty="0"/>
          </a:p>
        </p:txBody>
      </p:sp>
      <p:sp>
        <p:nvSpPr>
          <p:cNvPr id="46" name="Shape 44"/>
          <p:cNvSpPr/>
          <p:nvPr/>
        </p:nvSpPr>
        <p:spPr>
          <a:xfrm>
            <a:off x="6419088" y="2807208"/>
            <a:ext cx="100584" cy="100584"/>
          </a:xfrm>
          <a:prstGeom prst="ellipse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6565392" y="2770632"/>
            <a:ext cx="2377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Load Balancer</a:t>
            </a:r>
            <a:endParaRPr lang="en-US" sz="1050" dirty="0"/>
          </a:p>
        </p:txBody>
      </p:sp>
      <p:sp>
        <p:nvSpPr>
          <p:cNvPr id="48" name="Shape 46"/>
          <p:cNvSpPr/>
          <p:nvPr/>
        </p:nvSpPr>
        <p:spPr>
          <a:xfrm>
            <a:off x="6419088" y="3227832"/>
            <a:ext cx="100584" cy="100584"/>
          </a:xfrm>
          <a:prstGeom prst="ellipse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6565392" y="3191256"/>
            <a:ext cx="2377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Redis caching layer</a:t>
            </a:r>
            <a:endParaRPr lang="en-US" sz="1050" dirty="0"/>
          </a:p>
        </p:txBody>
      </p:sp>
      <p:sp>
        <p:nvSpPr>
          <p:cNvPr id="50" name="Shape 48"/>
          <p:cNvSpPr/>
          <p:nvPr/>
        </p:nvSpPr>
        <p:spPr>
          <a:xfrm>
            <a:off x="6419088" y="3648456"/>
            <a:ext cx="100584" cy="100584"/>
          </a:xfrm>
          <a:prstGeom prst="ellipse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6565392" y="3611880"/>
            <a:ext cx="2377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drift monitoring</a:t>
            </a:r>
            <a:endParaRPr lang="en-US" sz="1050" dirty="0"/>
          </a:p>
        </p:txBody>
      </p:sp>
      <p:sp>
        <p:nvSpPr>
          <p:cNvPr id="52" name="Shape 50"/>
          <p:cNvSpPr/>
          <p:nvPr/>
        </p:nvSpPr>
        <p:spPr>
          <a:xfrm>
            <a:off x="6419088" y="4069080"/>
            <a:ext cx="100584" cy="100584"/>
          </a:xfrm>
          <a:prstGeom prst="ellipse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6565392" y="4032504"/>
            <a:ext cx="2377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Kubernetes (EKS) — optional</a:t>
            </a:r>
            <a:endParaRPr lang="en-US" sz="1050" dirty="0"/>
          </a:p>
        </p:txBody>
      </p:sp>
      <p:sp>
        <p:nvSpPr>
          <p:cNvPr id="54" name="Text 52"/>
          <p:cNvSpPr/>
          <p:nvPr/>
        </p:nvSpPr>
        <p:spPr>
          <a:xfrm>
            <a:off x="365760" y="4892040"/>
            <a:ext cx="84124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Copyright (c) 2026 Mandeep Sharma  ·  NexaVault Financial Corp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D1F36"/>
          </a:solidFill>
          <a:ln w="12700">
            <a:solidFill>
              <a:srgbClr val="0D1F3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005840"/>
            <a:ext cx="9144000" cy="54864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164592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Business Impact &amp; Summary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411480" y="658368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broken manual review to a world-class AI-driven decision engine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74320" y="1207008"/>
            <a:ext cx="8595360" cy="365760"/>
          </a:xfrm>
          <a:prstGeom prst="rect">
            <a:avLst/>
          </a:prstGeom>
          <a:solidFill>
            <a:srgbClr val="0D2240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207008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A9BB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Dimension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840480" y="1207008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0505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Manual Process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263640" y="1207008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2C39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NexaVault AI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74320" y="1572768"/>
            <a:ext cx="8595360" cy="402336"/>
          </a:xfrm>
          <a:prstGeom prst="rect">
            <a:avLst/>
          </a:prstGeom>
          <a:solidFill>
            <a:srgbClr val="0D2240"/>
          </a:solidFill>
          <a:ln w="3810">
            <a:solidFill>
              <a:srgbClr val="1A3A5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1572768"/>
            <a:ext cx="32004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Time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840480" y="1572768"/>
            <a:ext cx="22860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050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3–5 days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263640" y="1572768"/>
            <a:ext cx="24688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200ms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274320" y="1975104"/>
            <a:ext cx="8595360" cy="402336"/>
          </a:xfrm>
          <a:prstGeom prst="rect">
            <a:avLst/>
          </a:prstGeom>
          <a:solidFill>
            <a:srgbClr val="0A1A30"/>
          </a:solidFill>
          <a:ln w="3810">
            <a:solidFill>
              <a:srgbClr val="1A3A5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" y="1975104"/>
            <a:ext cx="32004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Consistency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840480" y="1975104"/>
            <a:ext cx="22860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050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263640" y="1975104"/>
            <a:ext cx="24688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 consistent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74320" y="2377440"/>
            <a:ext cx="8595360" cy="402336"/>
          </a:xfrm>
          <a:prstGeom prst="rect">
            <a:avLst/>
          </a:prstGeom>
          <a:solidFill>
            <a:srgbClr val="0D2240"/>
          </a:solidFill>
          <a:ln w="3810">
            <a:solidFill>
              <a:srgbClr val="1A3A5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7200" y="2377440"/>
            <a:ext cx="32004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 (AUC)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3840480" y="2377440"/>
            <a:ext cx="22860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050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~78% est.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263640" y="2377440"/>
            <a:ext cx="24688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97.4%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274320" y="2779776"/>
            <a:ext cx="8595360" cy="402336"/>
          </a:xfrm>
          <a:prstGeom prst="rect">
            <a:avLst/>
          </a:prstGeom>
          <a:solidFill>
            <a:srgbClr val="0A1A30"/>
          </a:solidFill>
          <a:ln w="3810">
            <a:solidFill>
              <a:srgbClr val="1A3A5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57200" y="2779776"/>
            <a:ext cx="32004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Bias Risk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3840480" y="2779776"/>
            <a:ext cx="22860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050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263640" y="2779776"/>
            <a:ext cx="24688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Algorithmic / auditable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274320" y="3182112"/>
            <a:ext cx="8595360" cy="402336"/>
          </a:xfrm>
          <a:prstGeom prst="rect">
            <a:avLst/>
          </a:prstGeom>
          <a:solidFill>
            <a:srgbClr val="0D2240"/>
          </a:solidFill>
          <a:ln w="3810">
            <a:solidFill>
              <a:srgbClr val="1A3A5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57200" y="3182112"/>
            <a:ext cx="32004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3840480" y="3182112"/>
            <a:ext cx="22860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050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~50/day/officer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6263640" y="3182112"/>
            <a:ext cx="24688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Unlimited concurrent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274320" y="3584448"/>
            <a:ext cx="8595360" cy="402336"/>
          </a:xfrm>
          <a:prstGeom prst="rect">
            <a:avLst/>
          </a:prstGeom>
          <a:solidFill>
            <a:srgbClr val="0A1A30"/>
          </a:solidFill>
          <a:ln w="3810">
            <a:solidFill>
              <a:srgbClr val="1A3A5C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57200" y="3584448"/>
            <a:ext cx="32004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per decision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3840480" y="3584448"/>
            <a:ext cx="22860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050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$45–$80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6263640" y="3584448"/>
            <a:ext cx="24688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~$0.002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274320" y="4069080"/>
            <a:ext cx="8595360" cy="658368"/>
          </a:xfrm>
          <a:prstGeom prst="rect">
            <a:avLst/>
          </a:prstGeom>
          <a:solidFill>
            <a:srgbClr val="0D2240"/>
          </a:solidFill>
          <a:ln w="10160">
            <a:solidFill>
              <a:srgbClr val="02809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02920" y="4114800"/>
            <a:ext cx="5486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github.com/mandeep-sharma/nexavault-loan-approval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502920" y="4407408"/>
            <a:ext cx="5486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source · Notebook · API · Docker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6400800" y="4160520"/>
            <a:ext cx="2286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8A02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★ Star the repo</a:t>
            </a:r>
            <a:endParaRPr lang="en-US" sz="1400" dirty="0"/>
          </a:p>
        </p:txBody>
      </p:sp>
      <p:sp>
        <p:nvSpPr>
          <p:cNvPr id="38" name="Text 36"/>
          <p:cNvSpPr/>
          <p:nvPr/>
        </p:nvSpPr>
        <p:spPr>
          <a:xfrm>
            <a:off x="365760" y="4892040"/>
            <a:ext cx="84124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304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Copyright (c) 2026 Mandeep Sharma. All rights reserved.  ·  NexaVault Financial Corp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-1371600"/>
            <a:ext cx="4572000" cy="4572000"/>
          </a:xfrm>
          <a:prstGeom prst="ellipse">
            <a:avLst/>
          </a:prstGeom>
          <a:solidFill>
            <a:srgbClr val="028090">
              <a:alpha val="12000"/>
            </a:srgbClr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400800" y="2286000"/>
            <a:ext cx="4114800" cy="4114800"/>
          </a:xfrm>
          <a:prstGeom prst="ellipse">
            <a:avLst/>
          </a:prstGeom>
          <a:solidFill>
            <a:srgbClr val="02C39A">
              <a:alpha val="12000"/>
            </a:srgbClr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109728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Thank You</a:t>
            </a:r>
            <a:endParaRPr lang="en-US" sz="5600" dirty="0"/>
          </a:p>
        </p:txBody>
      </p:sp>
      <p:sp>
        <p:nvSpPr>
          <p:cNvPr id="6" name="Text 4"/>
          <p:cNvSpPr/>
          <p:nvPr/>
        </p:nvSpPr>
        <p:spPr>
          <a:xfrm>
            <a:off x="502920" y="2148840"/>
            <a:ext cx="8229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NexaVault Financial Corp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502920" y="2697480"/>
            <a:ext cx="3200400" cy="0"/>
          </a:xfrm>
          <a:prstGeom prst="line">
            <a:avLst/>
          </a:prstGeom>
          <a:noFill/>
          <a:ln w="25400">
            <a:solidFill>
              <a:srgbClr val="02809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28346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Intelligent Loan Approval System  ·  v2.0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02920" y="37490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A9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Mandeep Sharma  ·  Copyright (c) 2026 Mandeep Sharma. All rights reserved.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02920" y="42062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280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github.com/mandeep-sharma/nexavault-loan-approval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NexaVault Financial Corp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Intelligent Loan Approval System</dc:title>
  <dc:subject>PptxGenJS Presentation</dc:subject>
  <dc:creator>Mandeep Sharma</dc:creator>
  <cp:lastModifiedBy>Mandeep Sharma</cp:lastModifiedBy>
  <cp:revision>1</cp:revision>
  <dcterms:created xsi:type="dcterms:W3CDTF">2026-03-25T02:17:19Z</dcterms:created>
  <dcterms:modified xsi:type="dcterms:W3CDTF">2026-03-25T02:17:19Z</dcterms:modified>
</cp:coreProperties>
</file>